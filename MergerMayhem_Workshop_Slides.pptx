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2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6.xml" ContentType="application/vnd.openxmlformats-officedocument.presentationml.slide+xml"/>
  <Override PartName="/ppt/slides/slide14.xml" ContentType="application/vnd.openxmlformats-officedocument.presentationml.slide+xml"/>
  <Override PartName="/ppt/slides/slide21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20.xml" ContentType="application/vnd.openxmlformats-officedocument.presentationml.slide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7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11.xml" ContentType="application/vnd.openxmlformats-officedocument.presentationml.slide+xml"/>
  <Override PartName="/ppt/slides/slide19.xml" ContentType="application/vnd.openxmlformats-officedocument.presentationml.slide+xml"/>
  <Override PartName="/ppt/slides/slide23.xml" ContentType="application/vnd.openxmlformats-officedocument.presentationml.slide+xml"/>
  <Override PartName="/ppt/slides/slide22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3193F574-DA2B-45BD-AA55-0418736E340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440" cy="1161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0920" cy="585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440" cy="4690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6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C1B3B2DD-A68C-41E9-9688-10597CDA57D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5680" cy="565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5680" cy="80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5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6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62E60A3C-AFC6-407A-A842-47275A46FF7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1680" cy="1469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77664900-6814-4F7B-B719-D94D83D5426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1E47CDC3-14E2-45C7-B388-B6130A7E53D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6680" cy="5850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200" cy="5850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444D6ABC-777B-49D8-924D-245BCC464A5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0B28131A-A3F3-4F9E-84FA-8BCF9D73630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1680" cy="1361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1680" cy="1499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CF1B1F6E-F8F6-4687-A48B-5A041ED9FCB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7760" cy="452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7760" cy="452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4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5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6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728E36F0-3037-4178-9E33-E1EF9E55C26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560" cy="63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560" cy="3950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000" cy="63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000" cy="3950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PlaceHolder 7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PlaceHolder 8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2AEE8291-8D55-4301-AFAC-8FE106BB0B7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05AE182C-48D3-49C2-9D05-2C9AF0FE578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11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 1"/>
          <p:cNvSpPr/>
          <p:nvPr/>
        </p:nvSpPr>
        <p:spPr>
          <a:xfrm>
            <a:off x="0" y="0"/>
            <a:ext cx="12191040" cy="54000"/>
          </a:xfrm>
          <a:prstGeom prst="rect">
            <a:avLst/>
          </a:prstGeom>
          <a:solidFill>
            <a:srgbClr val="4ecdc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2" name="TextBox 2"/>
          <p:cNvSpPr/>
          <p:nvPr/>
        </p:nvSpPr>
        <p:spPr>
          <a:xfrm>
            <a:off x="731520" y="1645920"/>
            <a:ext cx="1005768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5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MERGERMAYHEM</a:t>
            </a:r>
            <a:endParaRPr lang="en-US" sz="5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TextBox 3"/>
          <p:cNvSpPr/>
          <p:nvPr/>
        </p:nvSpPr>
        <p:spPr>
          <a:xfrm>
            <a:off x="731520" y="2651760"/>
            <a:ext cx="91432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2200" b="0" u="none" strike="noStrike">
                <a:solidFill>
                  <a:srgbClr val="4ecdc4"/>
                </a:solidFill>
                <a:effectLst/>
                <a:uFillTx/>
                <a:latin typeface="Calibri"/>
              </a:rPr>
              <a:t>Intro to Cloud Penetration Testing with Entra ID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" name="Rectangle 4"/>
          <p:cNvSpPr/>
          <p:nvPr/>
        </p:nvSpPr>
        <p:spPr>
          <a:xfrm>
            <a:off x="0" y="3246120"/>
            <a:ext cx="2742480" cy="26640"/>
          </a:xfrm>
          <a:prstGeom prst="rect">
            <a:avLst/>
          </a:prstGeom>
          <a:solidFill>
            <a:srgbClr val="4ecdc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7640" bIns="-1764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5" name="TextBox 5"/>
          <p:cNvSpPr/>
          <p:nvPr/>
        </p:nvSpPr>
        <p:spPr>
          <a:xfrm>
            <a:off x="731520" y="3657600"/>
            <a:ext cx="7314480" cy="60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ts val="1820"/>
              </a:lnSpc>
              <a:spcAft>
                <a:spcPts val="400"/>
              </a:spcAft>
            </a:pPr>
            <a:r>
              <a:rPr lang="en-US" sz="1400" b="0" u="none" strike="noStrike">
                <a:solidFill>
                  <a:srgbClr val="7a8599"/>
                </a:solidFill>
                <a:effectLst/>
                <a:uFillTx/>
                <a:latin typeface="Calibri"/>
              </a:rPr>
              <a:t>Ocelot Security  +  Revolver Industries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ts val="1820"/>
              </a:lnSpc>
              <a:spcAft>
                <a:spcPts val="400"/>
              </a:spcAf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" name="TextBox 6"/>
          <p:cNvSpPr/>
          <p:nvPr/>
        </p:nvSpPr>
        <p:spPr>
          <a:xfrm>
            <a:off x="731520" y="4937760"/>
            <a:ext cx="54856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c8d0dc"/>
                </a:solidFill>
                <a:effectLst/>
                <a:uFillTx/>
                <a:latin typeface="Calibri"/>
              </a:rPr>
              <a:t>Zachary Keenan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" name="TextBox 7"/>
          <p:cNvSpPr/>
          <p:nvPr/>
        </p:nvSpPr>
        <p:spPr>
          <a:xfrm>
            <a:off x="731520" y="5394960"/>
            <a:ext cx="54856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11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Rectangle 1"/>
          <p:cNvSpPr/>
          <p:nvPr/>
        </p:nvSpPr>
        <p:spPr>
          <a:xfrm>
            <a:off x="0" y="6473880"/>
            <a:ext cx="12191040" cy="26640"/>
          </a:xfrm>
          <a:prstGeom prst="rect">
            <a:avLst/>
          </a:prstGeom>
          <a:solidFill>
            <a:srgbClr val="4ecdc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7640" bIns="-1764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9" name="TextBox 2"/>
          <p:cNvSpPr/>
          <p:nvPr/>
        </p:nvSpPr>
        <p:spPr>
          <a:xfrm>
            <a:off x="548640" y="6537960"/>
            <a:ext cx="3656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7a8599"/>
                </a:solidFill>
                <a:effectLst/>
                <a:uFillTx/>
                <a:latin typeface="Consolas"/>
              </a:rPr>
              <a:t>MergerMayhem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" name="TextBox 3"/>
          <p:cNvSpPr/>
          <p:nvPr/>
        </p:nvSpPr>
        <p:spPr>
          <a:xfrm>
            <a:off x="7315200" y="6537960"/>
            <a:ext cx="42969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7a8599"/>
                </a:solidFill>
                <a:effectLst/>
                <a:uFillTx/>
                <a:latin typeface="Calibri"/>
              </a:rPr>
              <a:t>Ocelot Security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TextBox 4"/>
          <p:cNvSpPr/>
          <p:nvPr/>
        </p:nvSpPr>
        <p:spPr>
          <a:xfrm>
            <a:off x="731520" y="457200"/>
            <a:ext cx="1005768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3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What even is cloud pentesting?</a:t>
            </a:r>
            <a:endParaRPr lang="en-US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" name="TextBox 5"/>
          <p:cNvSpPr/>
          <p:nvPr/>
        </p:nvSpPr>
        <p:spPr>
          <a:xfrm>
            <a:off x="731520" y="1371600"/>
            <a:ext cx="6400080" cy="111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ts val="1820"/>
              </a:lnSpc>
              <a:spcAft>
                <a:spcPts val="400"/>
              </a:spcAft>
            </a:pPr>
            <a:r>
              <a:rPr lang="en-US" sz="1800" b="0" u="none" strike="noStrike">
                <a:solidFill>
                  <a:srgbClr val="c8d0dc"/>
                </a:solidFill>
                <a:effectLst/>
                <a:uFillTx/>
                <a:latin typeface="Calibri"/>
              </a:rPr>
              <a:t>Same objectives as traditional pentesting find weaknesses before attackers do.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ts val="1820"/>
              </a:lnSpc>
              <a:spcAft>
                <a:spcPts val="400"/>
              </a:spcAft>
            </a:pP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ts val="1820"/>
              </a:lnSpc>
              <a:spcAft>
                <a:spcPts val="400"/>
              </a:spcAft>
            </a:pPr>
            <a:r>
              <a:rPr lang="en-US" sz="1800" b="1" u="none" strike="noStrike">
                <a:solidFill>
                  <a:srgbClr val="4ecdc4"/>
                </a:solidFill>
                <a:effectLst/>
                <a:uFillTx/>
                <a:latin typeface="Calibri"/>
              </a:rPr>
              <a:t>But the attack surface is different.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" name="Rectangle 6"/>
          <p:cNvSpPr/>
          <p:nvPr/>
        </p:nvSpPr>
        <p:spPr>
          <a:xfrm>
            <a:off x="731520" y="3108960"/>
            <a:ext cx="54000" cy="502200"/>
          </a:xfrm>
          <a:prstGeom prst="rect">
            <a:avLst/>
          </a:prstGeom>
          <a:solidFill>
            <a:srgbClr val="4ecdc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4" name="TextBox 7"/>
          <p:cNvSpPr/>
          <p:nvPr/>
        </p:nvSpPr>
        <p:spPr>
          <a:xfrm>
            <a:off x="1005840" y="3090600"/>
            <a:ext cx="91432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No network perimeter to breach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" name="TextBox 8"/>
          <p:cNvSpPr/>
          <p:nvPr/>
        </p:nvSpPr>
        <p:spPr>
          <a:xfrm>
            <a:off x="1005840" y="3364920"/>
            <a:ext cx="91432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7a8599"/>
                </a:solidFill>
                <a:effectLst/>
                <a:uFillTx/>
                <a:latin typeface="Calibri"/>
              </a:rPr>
              <a:t>Authentication endpoints are internet-facing by design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" name="Rectangle 9"/>
          <p:cNvSpPr/>
          <p:nvPr/>
        </p:nvSpPr>
        <p:spPr>
          <a:xfrm>
            <a:off x="731520" y="3886200"/>
            <a:ext cx="54000" cy="502200"/>
          </a:xfrm>
          <a:prstGeom prst="rect">
            <a:avLst/>
          </a:prstGeom>
          <a:solidFill>
            <a:srgbClr val="4ecdc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7" name="TextBox 10"/>
          <p:cNvSpPr/>
          <p:nvPr/>
        </p:nvSpPr>
        <p:spPr>
          <a:xfrm>
            <a:off x="1005840" y="3867840"/>
            <a:ext cx="91432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Identity IS the perimeter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" name="TextBox 11"/>
          <p:cNvSpPr/>
          <p:nvPr/>
        </p:nvSpPr>
        <p:spPr>
          <a:xfrm>
            <a:off x="1005840" y="4142160"/>
            <a:ext cx="91432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7a8599"/>
                </a:solidFill>
                <a:effectLst/>
                <a:uFillTx/>
                <a:latin typeface="Calibri"/>
              </a:rPr>
              <a:t>Compromise one account, enumerate the entire tenant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" name="Rectangle 12"/>
          <p:cNvSpPr/>
          <p:nvPr/>
        </p:nvSpPr>
        <p:spPr>
          <a:xfrm>
            <a:off x="731520" y="4663440"/>
            <a:ext cx="54000" cy="502200"/>
          </a:xfrm>
          <a:prstGeom prst="rect">
            <a:avLst/>
          </a:prstGeom>
          <a:solidFill>
            <a:srgbClr val="4ecdc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0" name="TextBox 13"/>
          <p:cNvSpPr/>
          <p:nvPr/>
        </p:nvSpPr>
        <p:spPr>
          <a:xfrm>
            <a:off x="1005840" y="4645080"/>
            <a:ext cx="91432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Configuration &gt; exploitation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" name="TextBox 14"/>
          <p:cNvSpPr/>
          <p:nvPr/>
        </p:nvSpPr>
        <p:spPr>
          <a:xfrm>
            <a:off x="1005840" y="4919400"/>
            <a:ext cx="91432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7a8599"/>
                </a:solidFill>
                <a:effectLst/>
                <a:uFillTx/>
                <a:latin typeface="Calibri"/>
              </a:rPr>
              <a:t>Misconfigs cause more breaches than zero-days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" name="Rectangle 15"/>
          <p:cNvSpPr/>
          <p:nvPr/>
        </p:nvSpPr>
        <p:spPr>
          <a:xfrm>
            <a:off x="731520" y="5440680"/>
            <a:ext cx="54000" cy="502200"/>
          </a:xfrm>
          <a:prstGeom prst="rect">
            <a:avLst/>
          </a:prstGeom>
          <a:solidFill>
            <a:srgbClr val="4ecdc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3" name="TextBox 16"/>
          <p:cNvSpPr/>
          <p:nvPr/>
        </p:nvSpPr>
        <p:spPr>
          <a:xfrm>
            <a:off x="1005840" y="5422320"/>
            <a:ext cx="91432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APIs everywhere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" name="TextBox 17"/>
          <p:cNvSpPr/>
          <p:nvPr/>
        </p:nvSpPr>
        <p:spPr>
          <a:xfrm>
            <a:off x="1005840" y="5696640"/>
            <a:ext cx="91432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7a8599"/>
                </a:solidFill>
                <a:effectLst/>
                <a:uFillTx/>
                <a:latin typeface="Calibri"/>
              </a:rPr>
              <a:t>Microsoft Graph, Azure Resource Manager, Power Platform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11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Rectangle 1"/>
          <p:cNvSpPr/>
          <p:nvPr/>
        </p:nvSpPr>
        <p:spPr>
          <a:xfrm>
            <a:off x="0" y="6473880"/>
            <a:ext cx="12191040" cy="26640"/>
          </a:xfrm>
          <a:prstGeom prst="rect">
            <a:avLst/>
          </a:prstGeom>
          <a:solidFill>
            <a:srgbClr val="4ecdc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7640" bIns="-1764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6" name="TextBox 2"/>
          <p:cNvSpPr/>
          <p:nvPr/>
        </p:nvSpPr>
        <p:spPr>
          <a:xfrm>
            <a:off x="548640" y="6537960"/>
            <a:ext cx="3656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7a8599"/>
                </a:solidFill>
                <a:effectLst/>
                <a:uFillTx/>
                <a:latin typeface="Consolas"/>
              </a:rPr>
              <a:t>MergerMayhem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" name="TextBox 3"/>
          <p:cNvSpPr/>
          <p:nvPr/>
        </p:nvSpPr>
        <p:spPr>
          <a:xfrm>
            <a:off x="7315200" y="6537960"/>
            <a:ext cx="42969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7a8599"/>
                </a:solidFill>
                <a:effectLst/>
                <a:uFillTx/>
                <a:latin typeface="Calibri"/>
              </a:rPr>
              <a:t>Ocelot Security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" name="TextBox 4"/>
          <p:cNvSpPr/>
          <p:nvPr/>
        </p:nvSpPr>
        <p:spPr>
          <a:xfrm>
            <a:off x="731520" y="457200"/>
            <a:ext cx="1005768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3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The Scenario</a:t>
            </a:r>
            <a:endParaRPr lang="en-US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" name="TextBox 5"/>
          <p:cNvSpPr/>
          <p:nvPr/>
        </p:nvSpPr>
        <p:spPr>
          <a:xfrm>
            <a:off x="731520" y="1280160"/>
            <a:ext cx="6857280" cy="337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ts val="1820"/>
              </a:lnSpc>
              <a:spcAft>
                <a:spcPts val="400"/>
              </a:spcAft>
            </a:pPr>
            <a:r>
              <a:rPr lang="en-US" sz="1800" b="0" u="none" strike="noStrike">
                <a:solidFill>
                  <a:srgbClr val="c8d0dc"/>
                </a:solidFill>
                <a:effectLst/>
                <a:uFillTx/>
                <a:latin typeface="Calibri"/>
              </a:rPr>
              <a:t>Ocelot Security acquired Revolver Industries.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ts val="1820"/>
              </a:lnSpc>
              <a:spcAft>
                <a:spcPts val="400"/>
              </a:spcAft>
            </a:pPr>
            <a:endParaRPr lang="en-US" sz="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ts val="1820"/>
              </a:lnSpc>
              <a:spcAft>
                <a:spcPts val="400"/>
              </a:spcAft>
            </a:pPr>
            <a:r>
              <a:rPr lang="en-US" sz="1600" b="0" u="none" strike="noStrike">
                <a:solidFill>
                  <a:srgbClr val="c8d0dc"/>
                </a:solidFill>
                <a:effectLst/>
                <a:uFillTx/>
                <a:latin typeface="Calibri"/>
              </a:rPr>
              <a:t>Both companies now share a single Microsoft Entra ID tenant.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ts val="1820"/>
              </a:lnSpc>
              <a:spcAft>
                <a:spcPts val="400"/>
              </a:spcAft>
            </a:pPr>
            <a:r>
              <a:rPr lang="en-US" sz="1600" b="0" u="none" strike="noStrike">
                <a:solidFill>
                  <a:srgbClr val="c8d0dc"/>
                </a:solidFill>
                <a:effectLst/>
                <a:uFillTx/>
                <a:latin typeface="Calibri"/>
              </a:rPr>
              <a:t>The IT migration was rushed. 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ts val="1820"/>
              </a:lnSpc>
              <a:spcAft>
                <a:spcPts val="400"/>
              </a:spcAft>
            </a:pPr>
            <a:r>
              <a:rPr lang="en-US" sz="1600" b="0" u="none" strike="noStrike">
                <a:solidFill>
                  <a:srgbClr val="e8593c"/>
                </a:solidFill>
                <a:effectLst/>
                <a:uFillTx/>
                <a:latin typeface="Calibri"/>
              </a:rPr>
              <a:t>A helpdesk analyst still has a temp password.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ts val="1820"/>
              </a:lnSpc>
              <a:spcAft>
                <a:spcPts val="400"/>
              </a:spcAft>
            </a:pPr>
            <a:r>
              <a:rPr lang="en-US" sz="1600" b="0" u="none" strike="noStrike">
                <a:solidFill>
                  <a:srgbClr val="e8593c"/>
                </a:solidFill>
                <a:effectLst/>
                <a:uFillTx/>
                <a:latin typeface="Calibri"/>
              </a:rPr>
              <a:t>Migration credentials live in a SharePoint doc.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ts val="1820"/>
              </a:lnSpc>
              <a:spcAft>
                <a:spcPts val="400"/>
              </a:spcAft>
            </a:pP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ts val="1820"/>
              </a:lnSpc>
              <a:spcAft>
                <a:spcPts val="400"/>
              </a:spcAft>
            </a:pPr>
            <a:r>
              <a:rPr lang="en-US" sz="1600" b="1" u="none" strike="noStrike">
                <a:solidFill>
                  <a:srgbClr val="4ecdc4"/>
                </a:solidFill>
                <a:effectLst/>
                <a:uFillTx/>
                <a:latin typeface="Calibri"/>
              </a:rPr>
              <a:t>Your job: show leadership how bad it is before a real adversary does.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ts val="1820"/>
              </a:lnSpc>
              <a:spcAft>
                <a:spcPts val="400"/>
              </a:spcAft>
            </a:pP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ts val="1820"/>
              </a:lnSpc>
              <a:spcAft>
                <a:spcPts val="400"/>
              </a:spcAft>
            </a:pPr>
            <a:r>
              <a:rPr lang="en-US" sz="1600" b="0" u="none" strike="noStrike">
                <a:solidFill>
                  <a:srgbClr val="c8d0dc"/>
                </a:solidFill>
                <a:effectLst/>
                <a:uFillTx/>
                <a:latin typeface="Calibri"/>
              </a:rPr>
              <a:t>Follow along at https://github.com/Ocel0tSec/NTIR_2026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ts val="1820"/>
              </a:lnSpc>
              <a:spcAft>
                <a:spcPts val="400"/>
              </a:spcAft>
            </a:pP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90" name=""/>
          <p:cNvPicPr/>
          <p:nvPr/>
        </p:nvPicPr>
        <p:blipFill>
          <a:blip r:embed="rId1"/>
          <a:stretch/>
        </p:blipFill>
        <p:spPr>
          <a:xfrm>
            <a:off x="7315200" y="685800"/>
            <a:ext cx="4623120" cy="39646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11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Rectangle 1"/>
          <p:cNvSpPr/>
          <p:nvPr/>
        </p:nvSpPr>
        <p:spPr>
          <a:xfrm>
            <a:off x="0" y="6473880"/>
            <a:ext cx="12191040" cy="26640"/>
          </a:xfrm>
          <a:prstGeom prst="rect">
            <a:avLst/>
          </a:prstGeom>
          <a:solidFill>
            <a:srgbClr val="4ecdc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7640" bIns="-1764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2" name="TextBox 2"/>
          <p:cNvSpPr/>
          <p:nvPr/>
        </p:nvSpPr>
        <p:spPr>
          <a:xfrm>
            <a:off x="548640" y="6537960"/>
            <a:ext cx="3656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7a8599"/>
                </a:solidFill>
                <a:effectLst/>
                <a:uFillTx/>
                <a:latin typeface="Consolas"/>
              </a:rPr>
              <a:t>MergerMayhem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" name="TextBox 3"/>
          <p:cNvSpPr/>
          <p:nvPr/>
        </p:nvSpPr>
        <p:spPr>
          <a:xfrm>
            <a:off x="7315200" y="6537960"/>
            <a:ext cx="42969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7a8599"/>
                </a:solidFill>
                <a:effectLst/>
                <a:uFillTx/>
                <a:latin typeface="Calibri"/>
              </a:rPr>
              <a:t>Ocelot Security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" name="TextBox 4"/>
          <p:cNvSpPr/>
          <p:nvPr/>
        </p:nvSpPr>
        <p:spPr>
          <a:xfrm>
            <a:off x="731520" y="457200"/>
            <a:ext cx="1005768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3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Microsoft Entra ID in 60 seconds</a:t>
            </a:r>
            <a:endParaRPr lang="en-US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" name="TextBox 5"/>
          <p:cNvSpPr/>
          <p:nvPr/>
        </p:nvSpPr>
        <p:spPr>
          <a:xfrm>
            <a:off x="731520" y="1280160"/>
            <a:ext cx="6400080" cy="14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ts val="1820"/>
              </a:lnSpc>
              <a:spcAft>
                <a:spcPts val="400"/>
              </a:spcAft>
            </a:pPr>
            <a:r>
              <a:rPr lang="en-US" sz="1800" b="0" u="none" strike="noStrike">
                <a:solidFill>
                  <a:srgbClr val="c8d0dc"/>
                </a:solidFill>
                <a:effectLst/>
                <a:uFillTx/>
                <a:latin typeface="Calibri"/>
              </a:rPr>
              <a:t>Entra ID is Microsoft's cloud identity platform.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ts val="1820"/>
              </a:lnSpc>
              <a:spcAft>
                <a:spcPts val="400"/>
              </a:spcAft>
            </a:pPr>
            <a:r>
              <a:rPr lang="en-US" sz="1400" b="0" u="none" strike="noStrike">
                <a:solidFill>
                  <a:srgbClr val="7a8599"/>
                </a:solidFill>
                <a:effectLst/>
                <a:uFillTx/>
                <a:latin typeface="Calibri"/>
              </a:rPr>
              <a:t>Formerly called Azure Active Directory (Azure AD).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ts val="1820"/>
              </a:lnSpc>
              <a:spcAft>
                <a:spcPts val="400"/>
              </a:spcAft>
            </a:pP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ts val="1820"/>
              </a:lnSpc>
              <a:spcAft>
                <a:spcPts val="400"/>
              </a:spcAft>
            </a:pPr>
            <a:r>
              <a:rPr lang="en-US" sz="1600" b="0" u="none" strike="noStrike">
                <a:solidFill>
                  <a:srgbClr val="c8d0dc"/>
                </a:solidFill>
                <a:effectLst/>
                <a:uFillTx/>
                <a:latin typeface="Calibri"/>
              </a:rPr>
              <a:t>If your company uses  365, Outlook, Teams, or Azure 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ts val="1820"/>
              </a:lnSpc>
              <a:spcAft>
                <a:spcPts val="400"/>
              </a:spcAft>
            </a:pPr>
            <a:r>
              <a:rPr lang="en-US" sz="1600" b="1" u="none" strike="noStrike">
                <a:solidFill>
                  <a:srgbClr val="4ecdc4"/>
                </a:solidFill>
                <a:effectLst/>
                <a:uFillTx/>
                <a:latin typeface="Calibri"/>
              </a:rPr>
              <a:t>Entra ID is managing every login behind the scenes.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" name="TextBox 6"/>
          <p:cNvSpPr/>
          <p:nvPr/>
        </p:nvSpPr>
        <p:spPr>
          <a:xfrm>
            <a:off x="731520" y="3840480"/>
            <a:ext cx="3650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4ecdc4"/>
                </a:solidFill>
                <a:effectLst/>
                <a:uFillTx/>
                <a:latin typeface="Consolas"/>
              </a:rPr>
              <a:t>→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" name="TextBox 7"/>
          <p:cNvSpPr/>
          <p:nvPr/>
        </p:nvSpPr>
        <p:spPr>
          <a:xfrm>
            <a:off x="1188720" y="3840480"/>
            <a:ext cx="73144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c8d0dc"/>
                </a:solidFill>
                <a:effectLst/>
                <a:uFillTx/>
                <a:latin typeface="Calibri"/>
              </a:rPr>
              <a:t>Users, groups, roles → who can do what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" name="TextBox 8"/>
          <p:cNvSpPr/>
          <p:nvPr/>
        </p:nvSpPr>
        <p:spPr>
          <a:xfrm>
            <a:off x="731520" y="4389120"/>
            <a:ext cx="3650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4ecdc4"/>
                </a:solidFill>
                <a:effectLst/>
                <a:uFillTx/>
                <a:latin typeface="Consolas"/>
              </a:rPr>
              <a:t>→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" name="TextBox 9"/>
          <p:cNvSpPr/>
          <p:nvPr/>
        </p:nvSpPr>
        <p:spPr>
          <a:xfrm>
            <a:off x="1188720" y="4389120"/>
            <a:ext cx="73144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c8d0dc"/>
                </a:solidFill>
                <a:effectLst/>
                <a:uFillTx/>
                <a:latin typeface="Calibri"/>
              </a:rPr>
              <a:t>OAuth2 / OpenID Connect → how authentication works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Box 10"/>
          <p:cNvSpPr/>
          <p:nvPr/>
        </p:nvSpPr>
        <p:spPr>
          <a:xfrm>
            <a:off x="731520" y="4937760"/>
            <a:ext cx="3650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4ecdc4"/>
                </a:solidFill>
                <a:effectLst/>
                <a:uFillTx/>
                <a:latin typeface="Consolas"/>
              </a:rPr>
              <a:t>→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Box 11"/>
          <p:cNvSpPr/>
          <p:nvPr/>
        </p:nvSpPr>
        <p:spPr>
          <a:xfrm>
            <a:off x="1188720" y="4937760"/>
            <a:ext cx="73144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c8d0dc"/>
                </a:solidFill>
                <a:effectLst/>
                <a:uFillTx/>
                <a:latin typeface="Calibri"/>
              </a:rPr>
              <a:t>SharePoint, Power Platform → where data lives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Box 12"/>
          <p:cNvSpPr/>
          <p:nvPr/>
        </p:nvSpPr>
        <p:spPr>
          <a:xfrm>
            <a:off x="731520" y="5486400"/>
            <a:ext cx="36504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4ecdc4"/>
                </a:solidFill>
                <a:effectLst/>
                <a:uFillTx/>
                <a:latin typeface="Consolas"/>
              </a:rPr>
              <a:t>→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Box 13"/>
          <p:cNvSpPr/>
          <p:nvPr/>
        </p:nvSpPr>
        <p:spPr>
          <a:xfrm>
            <a:off x="1188720" y="5486400"/>
            <a:ext cx="73144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c8d0dc"/>
                </a:solidFill>
                <a:effectLst/>
                <a:uFillTx/>
                <a:latin typeface="Calibri"/>
              </a:rPr>
              <a:t>Graph API → how everything talks to everything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04" name=""/>
          <p:cNvPicPr/>
          <p:nvPr/>
        </p:nvPicPr>
        <p:blipFill>
          <a:blip r:embed="rId1"/>
          <a:stretch/>
        </p:blipFill>
        <p:spPr>
          <a:xfrm>
            <a:off x="6290280" y="1371600"/>
            <a:ext cx="5703480" cy="38858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11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Rectangle 1"/>
          <p:cNvSpPr/>
          <p:nvPr/>
        </p:nvSpPr>
        <p:spPr>
          <a:xfrm>
            <a:off x="0" y="6473880"/>
            <a:ext cx="12191040" cy="26640"/>
          </a:xfrm>
          <a:prstGeom prst="rect">
            <a:avLst/>
          </a:prstGeom>
          <a:solidFill>
            <a:srgbClr val="4ecdc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7640" bIns="-1764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6" name="TextBox 2"/>
          <p:cNvSpPr/>
          <p:nvPr/>
        </p:nvSpPr>
        <p:spPr>
          <a:xfrm>
            <a:off x="548640" y="6537960"/>
            <a:ext cx="3656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7a8599"/>
                </a:solidFill>
                <a:effectLst/>
                <a:uFillTx/>
                <a:latin typeface="Consolas"/>
              </a:rPr>
              <a:t>MergerMayhem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Box 3"/>
          <p:cNvSpPr/>
          <p:nvPr/>
        </p:nvSpPr>
        <p:spPr>
          <a:xfrm>
            <a:off x="7315200" y="6537960"/>
            <a:ext cx="42969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7a8599"/>
                </a:solidFill>
                <a:effectLst/>
                <a:uFillTx/>
                <a:latin typeface="Calibri"/>
              </a:rPr>
              <a:t>Ocelot Security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Box 4"/>
          <p:cNvSpPr/>
          <p:nvPr/>
        </p:nvSpPr>
        <p:spPr>
          <a:xfrm>
            <a:off x="731520" y="457200"/>
            <a:ext cx="1005768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3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Attack Path</a:t>
            </a:r>
            <a:endParaRPr lang="en-US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Box 5"/>
          <p:cNvSpPr/>
          <p:nvPr/>
        </p:nvSpPr>
        <p:spPr>
          <a:xfrm>
            <a:off x="731520" y="1005840"/>
            <a:ext cx="54856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7a8599"/>
                </a:solidFill>
                <a:effectLst/>
                <a:uFillTx/>
                <a:latin typeface="Calibri"/>
              </a:rPr>
              <a:t>Five phases. One kill chain.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" name="Rectangle 6"/>
          <p:cNvSpPr/>
          <p:nvPr/>
        </p:nvSpPr>
        <p:spPr>
          <a:xfrm>
            <a:off x="731520" y="1828800"/>
            <a:ext cx="1919520" cy="1462320"/>
          </a:xfrm>
          <a:prstGeom prst="rect">
            <a:avLst/>
          </a:prstGeom>
          <a:solidFill>
            <a:srgbClr val="121c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1" name="Oval 7"/>
          <p:cNvSpPr/>
          <p:nvPr/>
        </p:nvSpPr>
        <p:spPr>
          <a:xfrm>
            <a:off x="1417320" y="1554480"/>
            <a:ext cx="547920" cy="547920"/>
          </a:xfrm>
          <a:prstGeom prst="ellipse">
            <a:avLst/>
          </a:prstGeom>
          <a:solidFill>
            <a:srgbClr val="4ecdc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1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Box 8"/>
          <p:cNvSpPr/>
          <p:nvPr/>
        </p:nvSpPr>
        <p:spPr>
          <a:xfrm>
            <a:off x="868680" y="2286000"/>
            <a:ext cx="16452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OSINT &amp; Recon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Box 9"/>
          <p:cNvSpPr/>
          <p:nvPr/>
        </p:nvSpPr>
        <p:spPr>
          <a:xfrm>
            <a:off x="868680" y="2697480"/>
            <a:ext cx="164520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7a8599"/>
                </a:solidFill>
                <a:effectLst/>
                <a:uFillTx/>
                <a:latin typeface="Calibri"/>
              </a:rPr>
              <a:t>Company website → usernames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Box 10"/>
          <p:cNvSpPr/>
          <p:nvPr/>
        </p:nvSpPr>
        <p:spPr>
          <a:xfrm>
            <a:off x="2697480" y="2331720"/>
            <a:ext cx="2736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7a8599"/>
                </a:solidFill>
                <a:effectLst/>
                <a:uFillTx/>
                <a:latin typeface="Consolas"/>
              </a:rPr>
              <a:t>→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" name="Rectangle 11"/>
          <p:cNvSpPr/>
          <p:nvPr/>
        </p:nvSpPr>
        <p:spPr>
          <a:xfrm>
            <a:off x="2926080" y="1828800"/>
            <a:ext cx="1919520" cy="1462320"/>
          </a:xfrm>
          <a:prstGeom prst="rect">
            <a:avLst/>
          </a:prstGeom>
          <a:solidFill>
            <a:srgbClr val="121c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6" name="Oval 12"/>
          <p:cNvSpPr/>
          <p:nvPr/>
        </p:nvSpPr>
        <p:spPr>
          <a:xfrm>
            <a:off x="3611880" y="1554480"/>
            <a:ext cx="547920" cy="547920"/>
          </a:xfrm>
          <a:prstGeom prst="ellipse">
            <a:avLst/>
          </a:prstGeom>
          <a:solidFill>
            <a:srgbClr val="e8593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2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Box 13"/>
          <p:cNvSpPr/>
          <p:nvPr/>
        </p:nvSpPr>
        <p:spPr>
          <a:xfrm>
            <a:off x="3063240" y="2286000"/>
            <a:ext cx="16452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Password Spray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Box 14"/>
          <p:cNvSpPr/>
          <p:nvPr/>
        </p:nvSpPr>
        <p:spPr>
          <a:xfrm>
            <a:off x="3063240" y="2697480"/>
            <a:ext cx="164520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7a8599"/>
                </a:solidFill>
                <a:effectLst/>
                <a:uFillTx/>
                <a:latin typeface="Calibri"/>
              </a:rPr>
              <a:t>One password, many accounts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Box 15"/>
          <p:cNvSpPr/>
          <p:nvPr/>
        </p:nvSpPr>
        <p:spPr>
          <a:xfrm>
            <a:off x="4892040" y="2331720"/>
            <a:ext cx="2736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7a8599"/>
                </a:solidFill>
                <a:effectLst/>
                <a:uFillTx/>
                <a:latin typeface="Consolas"/>
              </a:rPr>
              <a:t>→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" name="Rectangle 16"/>
          <p:cNvSpPr/>
          <p:nvPr/>
        </p:nvSpPr>
        <p:spPr>
          <a:xfrm>
            <a:off x="5120640" y="1828800"/>
            <a:ext cx="1919520" cy="1462320"/>
          </a:xfrm>
          <a:prstGeom prst="rect">
            <a:avLst/>
          </a:prstGeom>
          <a:solidFill>
            <a:srgbClr val="121c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1" name="Oval 17"/>
          <p:cNvSpPr/>
          <p:nvPr/>
        </p:nvSpPr>
        <p:spPr>
          <a:xfrm>
            <a:off x="5806440" y="1554480"/>
            <a:ext cx="547920" cy="547920"/>
          </a:xfrm>
          <a:prstGeom prst="ellipse">
            <a:avLst/>
          </a:prstGeom>
          <a:solidFill>
            <a:srgbClr val="1a73e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3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Box 18"/>
          <p:cNvSpPr/>
          <p:nvPr/>
        </p:nvSpPr>
        <p:spPr>
          <a:xfrm>
            <a:off x="5257800" y="2286000"/>
            <a:ext cx="16452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Graph API Enum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Box 19"/>
          <p:cNvSpPr/>
          <p:nvPr/>
        </p:nvSpPr>
        <p:spPr>
          <a:xfrm>
            <a:off x="5257800" y="2697480"/>
            <a:ext cx="164520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7a8599"/>
                </a:solidFill>
                <a:effectLst/>
                <a:uFillTx/>
                <a:latin typeface="Calibri"/>
              </a:rPr>
              <a:t>Explore the tenant, find SharePoint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Box 20"/>
          <p:cNvSpPr/>
          <p:nvPr/>
        </p:nvSpPr>
        <p:spPr>
          <a:xfrm>
            <a:off x="7086600" y="2331720"/>
            <a:ext cx="2736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7a8599"/>
                </a:solidFill>
                <a:effectLst/>
                <a:uFillTx/>
                <a:latin typeface="Consolas"/>
              </a:rPr>
              <a:t>→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5" name="Rectangle 21"/>
          <p:cNvSpPr/>
          <p:nvPr/>
        </p:nvSpPr>
        <p:spPr>
          <a:xfrm>
            <a:off x="7315200" y="1828800"/>
            <a:ext cx="1919520" cy="1462320"/>
          </a:xfrm>
          <a:prstGeom prst="rect">
            <a:avLst/>
          </a:prstGeom>
          <a:solidFill>
            <a:srgbClr val="121c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6" name="Oval 22"/>
          <p:cNvSpPr/>
          <p:nvPr/>
        </p:nvSpPr>
        <p:spPr>
          <a:xfrm>
            <a:off x="8001000" y="1554480"/>
            <a:ext cx="547920" cy="547920"/>
          </a:xfrm>
          <a:prstGeom prst="ellipse">
            <a:avLst/>
          </a:prstGeom>
          <a:solidFill>
            <a:srgbClr val="f0a8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4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Box 23"/>
          <p:cNvSpPr/>
          <p:nvPr/>
        </p:nvSpPr>
        <p:spPr>
          <a:xfrm>
            <a:off x="7452360" y="2286000"/>
            <a:ext cx="16452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Lateral Movement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Box 24"/>
          <p:cNvSpPr/>
          <p:nvPr/>
        </p:nvSpPr>
        <p:spPr>
          <a:xfrm>
            <a:off x="7452360" y="2697480"/>
            <a:ext cx="164520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7a8599"/>
                </a:solidFill>
                <a:effectLst/>
                <a:uFillTx/>
                <a:latin typeface="Calibri"/>
              </a:rPr>
              <a:t>Pivot to Revolver user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Box 25"/>
          <p:cNvSpPr/>
          <p:nvPr/>
        </p:nvSpPr>
        <p:spPr>
          <a:xfrm>
            <a:off x="9281160" y="2331720"/>
            <a:ext cx="2736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7a8599"/>
                </a:solidFill>
                <a:effectLst/>
                <a:uFillTx/>
                <a:latin typeface="Consolas"/>
              </a:rPr>
              <a:t>→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" name="Rectangle 26"/>
          <p:cNvSpPr/>
          <p:nvPr/>
        </p:nvSpPr>
        <p:spPr>
          <a:xfrm>
            <a:off x="9509760" y="1828800"/>
            <a:ext cx="1919520" cy="1462320"/>
          </a:xfrm>
          <a:prstGeom prst="rect">
            <a:avLst/>
          </a:prstGeom>
          <a:solidFill>
            <a:srgbClr val="121c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1" name="Oval 27"/>
          <p:cNvSpPr/>
          <p:nvPr/>
        </p:nvSpPr>
        <p:spPr>
          <a:xfrm>
            <a:off x="10195560" y="1554480"/>
            <a:ext cx="547920" cy="547920"/>
          </a:xfrm>
          <a:prstGeom prst="ellipse">
            <a:avLst/>
          </a:prstGeom>
          <a:solidFill>
            <a:srgbClr val="4ecdc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5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Box 28"/>
          <p:cNvSpPr/>
          <p:nvPr/>
        </p:nvSpPr>
        <p:spPr>
          <a:xfrm>
            <a:off x="9646920" y="2286000"/>
            <a:ext cx="164520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Report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Box 29"/>
          <p:cNvSpPr/>
          <p:nvPr/>
        </p:nvSpPr>
        <p:spPr>
          <a:xfrm>
            <a:off x="9646920" y="2697480"/>
            <a:ext cx="164520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7a8599"/>
                </a:solidFill>
                <a:effectLst/>
                <a:uFillTx/>
                <a:latin typeface="Calibri"/>
              </a:rPr>
              <a:t>Document findings, discuss defense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Box 30"/>
          <p:cNvSpPr/>
          <p:nvPr/>
        </p:nvSpPr>
        <p:spPr>
          <a:xfrm>
            <a:off x="731520" y="3840480"/>
            <a:ext cx="10057680" cy="201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ts val="1820"/>
              </a:lnSpc>
              <a:spcAft>
                <a:spcPts val="400"/>
              </a:spcAft>
            </a:pPr>
            <a:r>
              <a:rPr lang="en-US" sz="1400" b="1" u="none" strike="noStrike">
                <a:solidFill>
                  <a:srgbClr val="7a8599"/>
                </a:solidFill>
                <a:effectLst/>
                <a:uFillTx/>
                <a:latin typeface="Calibri"/>
              </a:rPr>
              <a:t>Tools you'll use today: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ts val="1820"/>
              </a:lnSpc>
              <a:spcAft>
                <a:spcPts val="400"/>
              </a:spcAft>
            </a:pPr>
            <a:endParaRPr lang="en-US" sz="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ts val="1820"/>
              </a:lnSpc>
              <a:spcAft>
                <a:spcPts val="400"/>
              </a:spcAft>
            </a:pPr>
            <a:r>
              <a:rPr lang="en-US" sz="1300" b="0" u="none" strike="noStrike">
                <a:solidFill>
                  <a:srgbClr val="c8d0dc"/>
                </a:solidFill>
                <a:effectLst/>
                <a:uFillTx/>
                <a:latin typeface="Consolas"/>
              </a:rPr>
              <a:t>o365spray       — user enumeration + password spraying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ts val="1820"/>
              </a:lnSpc>
              <a:spcAft>
                <a:spcPts val="400"/>
              </a:spcAft>
            </a:pPr>
            <a:r>
              <a:rPr lang="en-US" sz="1300" b="0" u="none" strike="noStrike">
                <a:solidFill>
                  <a:srgbClr val="c8d0dc"/>
                </a:solidFill>
                <a:effectLst/>
                <a:uFillTx/>
                <a:latin typeface="Consolas"/>
              </a:rPr>
              <a:t>MSOLSpray       — password spray (PowerShell)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ts val="1820"/>
              </a:lnSpc>
              <a:spcAft>
                <a:spcPts val="400"/>
              </a:spcAft>
            </a:pPr>
            <a:r>
              <a:rPr lang="en-US" sz="1300" b="0" u="none" strike="noStrike">
                <a:solidFill>
                  <a:srgbClr val="c8d0dc"/>
                </a:solidFill>
                <a:effectLst/>
                <a:uFillTx/>
                <a:latin typeface="Consolas"/>
              </a:rPr>
              <a:t>GraphRunner     — post-exploitation via MS Graph API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ts val="1820"/>
              </a:lnSpc>
              <a:spcAft>
                <a:spcPts val="400"/>
              </a:spcAft>
            </a:pPr>
            <a:r>
              <a:rPr lang="en-US" sz="1300" b="0" u="none" strike="noStrike">
                <a:solidFill>
                  <a:srgbClr val="c8d0dc"/>
                </a:solidFill>
                <a:effectLst/>
                <a:uFillTx/>
                <a:latin typeface="Consolas"/>
              </a:rPr>
              <a:t>Browser         — no need to use tools, everything can be done with a web browser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ts val="1820"/>
              </a:lnSpc>
              <a:spcAft>
                <a:spcPts val="400"/>
              </a:spcAft>
            </a:pPr>
            <a:r>
              <a:rPr lang="en-US" sz="1300" b="0" u="none" strike="noStrike">
                <a:solidFill>
                  <a:srgbClr val="c8d0dc"/>
                </a:solidFill>
                <a:effectLst/>
                <a:uFillTx/>
                <a:latin typeface="Consolas"/>
                <a:ea typeface="Noto Sans CJK SC"/>
              </a:rPr>
              <a:t>Brain           </a:t>
            </a:r>
            <a:r>
              <a:rPr lang="en-US" sz="1300" b="0" u="none" strike="noStrike">
                <a:solidFill>
                  <a:srgbClr val="c8d0dc"/>
                </a:solidFill>
                <a:effectLst/>
                <a:uFillTx/>
                <a:latin typeface="Consolas"/>
              </a:rPr>
              <a:t>— don’t restrict yourself to the tools and guidance, make your own path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11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Rectangle 1"/>
          <p:cNvSpPr/>
          <p:nvPr/>
        </p:nvSpPr>
        <p:spPr>
          <a:xfrm>
            <a:off x="0" y="0"/>
            <a:ext cx="12191040" cy="54000"/>
          </a:xfrm>
          <a:prstGeom prst="rect">
            <a:avLst/>
          </a:prstGeom>
          <a:solidFill>
            <a:srgbClr val="4ecdc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6" name="Oval 2"/>
          <p:cNvSpPr/>
          <p:nvPr/>
        </p:nvSpPr>
        <p:spPr>
          <a:xfrm>
            <a:off x="731520" y="2286000"/>
            <a:ext cx="502200" cy="502200"/>
          </a:xfrm>
          <a:prstGeom prst="ellipse">
            <a:avLst/>
          </a:prstGeom>
          <a:solidFill>
            <a:srgbClr val="4ecdc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1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Box 3"/>
          <p:cNvSpPr/>
          <p:nvPr/>
        </p:nvSpPr>
        <p:spPr>
          <a:xfrm>
            <a:off x="1463040" y="2194560"/>
            <a:ext cx="914328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4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OSINT &amp; Enumeration</a:t>
            </a:r>
            <a:endParaRPr lang="en-US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Box 4"/>
          <p:cNvSpPr/>
          <p:nvPr/>
        </p:nvSpPr>
        <p:spPr>
          <a:xfrm>
            <a:off x="1463040" y="2926080"/>
            <a:ext cx="54856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7a8599"/>
                </a:solidFill>
                <a:effectLst/>
                <a:uFillTx/>
                <a:latin typeface="Calibri"/>
              </a:rPr>
              <a:t>Reconnaissance    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11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Rectangle 1"/>
          <p:cNvSpPr/>
          <p:nvPr/>
        </p:nvSpPr>
        <p:spPr>
          <a:xfrm>
            <a:off x="0" y="6473880"/>
            <a:ext cx="12191040" cy="26640"/>
          </a:xfrm>
          <a:prstGeom prst="rect">
            <a:avLst/>
          </a:prstGeom>
          <a:solidFill>
            <a:srgbClr val="4ecdc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7640" bIns="-1764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0" name="TextBox 2"/>
          <p:cNvSpPr/>
          <p:nvPr/>
        </p:nvSpPr>
        <p:spPr>
          <a:xfrm>
            <a:off x="548640" y="6537960"/>
            <a:ext cx="3656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7a8599"/>
                </a:solidFill>
                <a:effectLst/>
                <a:uFillTx/>
                <a:latin typeface="Consolas"/>
              </a:rPr>
              <a:t>MergerMayhem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Box 3"/>
          <p:cNvSpPr/>
          <p:nvPr/>
        </p:nvSpPr>
        <p:spPr>
          <a:xfrm>
            <a:off x="7315200" y="6537960"/>
            <a:ext cx="42969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7a8599"/>
                </a:solidFill>
                <a:effectLst/>
                <a:uFillTx/>
                <a:latin typeface="Calibri"/>
              </a:rPr>
              <a:t>Ocelot Security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2" name="Oval 4"/>
          <p:cNvSpPr/>
          <p:nvPr/>
        </p:nvSpPr>
        <p:spPr>
          <a:xfrm>
            <a:off x="548640" y="365760"/>
            <a:ext cx="502200" cy="502200"/>
          </a:xfrm>
          <a:prstGeom prst="ellipse">
            <a:avLst/>
          </a:prstGeom>
          <a:solidFill>
            <a:srgbClr val="4ecdc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1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Box 5"/>
          <p:cNvSpPr/>
          <p:nvPr/>
        </p:nvSpPr>
        <p:spPr>
          <a:xfrm>
            <a:off x="1280160" y="365760"/>
            <a:ext cx="73144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Start with OSINT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Box 6"/>
          <p:cNvSpPr/>
          <p:nvPr/>
        </p:nvSpPr>
        <p:spPr>
          <a:xfrm>
            <a:off x="731520" y="1188720"/>
            <a:ext cx="4571280" cy="274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ts val="1820"/>
              </a:lnSpc>
              <a:spcAft>
                <a:spcPts val="400"/>
              </a:spcAft>
            </a:pPr>
            <a:r>
              <a:rPr lang="en-US" sz="1600" b="0" u="none" strike="noStrike">
                <a:solidFill>
                  <a:srgbClr val="c8d0dc"/>
                </a:solidFill>
                <a:effectLst/>
                <a:uFillTx/>
                <a:latin typeface="Calibri"/>
              </a:rPr>
              <a:t>Every engagement starts with open-source intelligence.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ts val="1820"/>
              </a:lnSpc>
              <a:spcAft>
                <a:spcPts val="400"/>
              </a:spcAft>
            </a:pPr>
            <a:endParaRPr lang="en-US" sz="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ts val="1820"/>
              </a:lnSpc>
              <a:spcAft>
                <a:spcPts val="400"/>
              </a:spcAft>
            </a:pPr>
            <a:r>
              <a:rPr lang="en-US" sz="1500" b="0" u="none" strike="noStrike">
                <a:solidFill>
                  <a:srgbClr val="c8d0dc"/>
                </a:solidFill>
                <a:effectLst/>
                <a:uFillTx/>
                <a:latin typeface="Calibri"/>
              </a:rPr>
              <a:t>The company has a public website announcing the merger.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ts val="1820"/>
              </a:lnSpc>
              <a:spcAft>
                <a:spcPts val="400"/>
              </a:spcAft>
            </a:pPr>
            <a:r>
              <a:rPr lang="en-US" sz="1500" b="0" u="none" strike="noStrike">
                <a:solidFill>
                  <a:srgbClr val="c8d0dc"/>
                </a:solidFill>
                <a:effectLst/>
                <a:uFillTx/>
                <a:latin typeface="Calibri"/>
              </a:rPr>
              <a:t>Employee names and titles are listed.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ts val="1820"/>
              </a:lnSpc>
              <a:spcAft>
                <a:spcPts val="400"/>
              </a:spcAft>
            </a:pPr>
            <a:r>
              <a:rPr lang="en-US" sz="1500" b="1" u="none" strike="noStrike">
                <a:solidFill>
                  <a:srgbClr val="4ecdc4"/>
                </a:solidFill>
                <a:effectLst/>
                <a:uFillTx/>
                <a:latin typeface="Calibri"/>
              </a:rPr>
              <a:t>One person's email is visible — that gives you the format.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5" name="Rectangle 8"/>
          <p:cNvSpPr/>
          <p:nvPr/>
        </p:nvSpPr>
        <p:spPr>
          <a:xfrm>
            <a:off x="457200" y="3703680"/>
            <a:ext cx="4571280" cy="639360"/>
          </a:xfrm>
          <a:prstGeom prst="rect">
            <a:avLst/>
          </a:prstGeom>
          <a:solidFill>
            <a:srgbClr val="0d152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2880" rIns="90000" tIns="137160" bIns="45000" anchor="ctr">
            <a:noAutofit/>
          </a:bodyPr>
          <a:p>
            <a:pPr algn="ctr" defTabSz="457200">
              <a:lnSpc>
                <a:spcPct val="100000"/>
              </a:lnSpc>
              <a:spcAft>
                <a:spcPts val="201"/>
              </a:spcAft>
            </a:pPr>
            <a:r>
              <a:rPr lang="en-US" sz="1300" b="0" u="none" strike="noStrike">
                <a:solidFill>
                  <a:srgbClr val="4ecdc4"/>
                </a:solidFill>
                <a:effectLst/>
                <a:uFillTx/>
                <a:latin typeface="Consolas"/>
              </a:rPr>
              <a:t># The OSINT target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300" b="0" u="none" strike="noStrike">
                <a:solidFill>
                  <a:srgbClr val="4ecdc4"/>
                </a:solidFill>
                <a:effectLst/>
                <a:uFillTx/>
                <a:latin typeface="Consolas"/>
              </a:rPr>
              <a:t>https://ocelotsecurity.com/ntir-workshop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46" name=""/>
          <p:cNvPicPr/>
          <p:nvPr/>
        </p:nvPicPr>
        <p:blipFill>
          <a:blip r:embed="rId1"/>
          <a:stretch/>
        </p:blipFill>
        <p:spPr>
          <a:xfrm>
            <a:off x="5257800" y="634680"/>
            <a:ext cx="3885840" cy="4622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7" name=""/>
          <p:cNvPicPr/>
          <p:nvPr/>
        </p:nvPicPr>
        <p:blipFill>
          <a:blip r:embed="rId2"/>
          <a:stretch/>
        </p:blipFill>
        <p:spPr>
          <a:xfrm>
            <a:off x="9372600" y="914400"/>
            <a:ext cx="2514240" cy="4058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11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Rectangle 1"/>
          <p:cNvSpPr/>
          <p:nvPr/>
        </p:nvSpPr>
        <p:spPr>
          <a:xfrm>
            <a:off x="0" y="6473880"/>
            <a:ext cx="12191040" cy="26640"/>
          </a:xfrm>
          <a:prstGeom prst="rect">
            <a:avLst/>
          </a:prstGeom>
          <a:solidFill>
            <a:srgbClr val="4ecdc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7640" bIns="-1764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9" name="TextBox 2"/>
          <p:cNvSpPr/>
          <p:nvPr/>
        </p:nvSpPr>
        <p:spPr>
          <a:xfrm>
            <a:off x="548640" y="6537960"/>
            <a:ext cx="3656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7a8599"/>
                </a:solidFill>
                <a:effectLst/>
                <a:uFillTx/>
                <a:latin typeface="Consolas"/>
              </a:rPr>
              <a:t>MergerMayhem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Box 3"/>
          <p:cNvSpPr/>
          <p:nvPr/>
        </p:nvSpPr>
        <p:spPr>
          <a:xfrm>
            <a:off x="7315200" y="6537960"/>
            <a:ext cx="42969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7a8599"/>
                </a:solidFill>
                <a:effectLst/>
                <a:uFillTx/>
                <a:latin typeface="Calibri"/>
              </a:rPr>
              <a:t>Ocelot Security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1" name="Oval 4"/>
          <p:cNvSpPr/>
          <p:nvPr/>
        </p:nvSpPr>
        <p:spPr>
          <a:xfrm>
            <a:off x="548640" y="365760"/>
            <a:ext cx="502200" cy="502200"/>
          </a:xfrm>
          <a:prstGeom prst="ellipse">
            <a:avLst/>
          </a:prstGeom>
          <a:solidFill>
            <a:srgbClr val="4ecdc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1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Box 5"/>
          <p:cNvSpPr/>
          <p:nvPr/>
        </p:nvSpPr>
        <p:spPr>
          <a:xfrm>
            <a:off x="1280160" y="365760"/>
            <a:ext cx="73144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Build your username wordlist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Box 6"/>
          <p:cNvSpPr/>
          <p:nvPr/>
        </p:nvSpPr>
        <p:spPr>
          <a:xfrm>
            <a:off x="228960" y="1097280"/>
            <a:ext cx="5028480" cy="228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ts val="1820"/>
              </a:lnSpc>
              <a:spcAft>
                <a:spcPts val="400"/>
              </a:spcAft>
            </a:pPr>
            <a:r>
              <a:rPr lang="en-US" sz="1600" b="0" u="none" strike="noStrike">
                <a:solidFill>
                  <a:srgbClr val="c8d0dc"/>
                </a:solidFill>
                <a:effectLst/>
                <a:uFillTx/>
                <a:latin typeface="Calibri"/>
              </a:rPr>
              <a:t>From the website you know: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ts val="1820"/>
              </a:lnSpc>
              <a:spcAft>
                <a:spcPts val="400"/>
              </a:spcAft>
            </a:pPr>
            <a:endParaRPr lang="en-US" sz="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ts val="1820"/>
              </a:lnSpc>
              <a:spcAft>
                <a:spcPts val="400"/>
              </a:spcAft>
            </a:pPr>
            <a:r>
              <a:rPr lang="en-US" sz="1600" b="1" u="none" strike="noStrike">
                <a:solidFill>
                  <a:srgbClr val="4ecdc4"/>
                </a:solidFill>
                <a:effectLst/>
                <a:uFillTx/>
                <a:latin typeface="Consolas"/>
              </a:rPr>
              <a:t>Email format:  f.last@domain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ts val="1820"/>
              </a:lnSpc>
              <a:spcAft>
                <a:spcPts val="400"/>
              </a:spcAft>
            </a:pP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ts val="1820"/>
              </a:lnSpc>
              <a:spcAft>
                <a:spcPts val="400"/>
              </a:spcAft>
            </a:pPr>
            <a:r>
              <a:rPr lang="en-US" sz="1500" b="0" u="none" strike="noStrike">
                <a:solidFill>
                  <a:srgbClr val="c8d0dc"/>
                </a:solidFill>
                <a:effectLst/>
                <a:uFillTx/>
                <a:latin typeface="Calibri"/>
              </a:rPr>
              <a:t>Create a names.txt with full names,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ts val="1820"/>
              </a:lnSpc>
              <a:spcAft>
                <a:spcPts val="400"/>
              </a:spcAft>
            </a:pPr>
            <a:r>
              <a:rPr lang="en-US" sz="1500" b="0" u="none" strike="noStrike">
                <a:solidFill>
                  <a:srgbClr val="c8d0dc"/>
                </a:solidFill>
                <a:effectLst/>
                <a:uFillTx/>
                <a:latin typeface="Calibri"/>
              </a:rPr>
              <a:t>then convert to the right format: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4" name="Rectangle 7"/>
          <p:cNvSpPr/>
          <p:nvPr/>
        </p:nvSpPr>
        <p:spPr>
          <a:xfrm>
            <a:off x="228600" y="2971800"/>
            <a:ext cx="9372240" cy="914040"/>
          </a:xfrm>
          <a:prstGeom prst="rect">
            <a:avLst/>
          </a:prstGeom>
          <a:solidFill>
            <a:srgbClr val="0d152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2880" rIns="90000" tIns="137160" bIns="45000" anchor="ctr">
            <a:no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800" b="0" u="none" strike="noStrike">
                <a:solidFill>
                  <a:srgbClr val="4ecdc4"/>
                </a:solidFill>
                <a:effectLst/>
                <a:uFillTx/>
                <a:latin typeface="Consolas"/>
              </a:rPr>
              <a:t># Bash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800" b="0" u="none" strike="noStrike">
                <a:solidFill>
                  <a:srgbClr val="4ecdc4"/>
                </a:solidFill>
                <a:effectLst/>
                <a:uFillTx/>
                <a:latin typeface="Consolas"/>
              </a:rPr>
              <a:t>awk '{print tolower(substr($1,1,1)"."$NF"@OcelotSecurity.onmicrosoft.com")}' \names.txt &gt; userlist.txt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800" b="0" u="none" strike="noStrike">
                <a:solidFill>
                  <a:srgbClr val="4ecdc4"/>
                </a:solidFill>
                <a:effectLst/>
                <a:uFillTx/>
                <a:latin typeface="Consolas"/>
              </a:rPr>
              <a:t># PowerShell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800" b="0" u="none" strike="noStrike">
                <a:solidFill>
                  <a:srgbClr val="4ecdc4"/>
                </a:solidFill>
                <a:effectLst/>
                <a:uFillTx/>
                <a:latin typeface="Consolas"/>
              </a:rPr>
              <a:t>Get-Content names.txt | ForEach-Object {$s=$_.Split(' ')"$($s[0][0]).$($s[-1])@OcelotSecurity.onmicrosoft.com".ToLower()} | Out-File userlist.txt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Box 8"/>
          <p:cNvSpPr/>
          <p:nvPr/>
        </p:nvSpPr>
        <p:spPr>
          <a:xfrm>
            <a:off x="4572000" y="1294200"/>
            <a:ext cx="2285640" cy="14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ts val="1820"/>
              </a:lnSpc>
              <a:spcAft>
                <a:spcPts val="400"/>
              </a:spcAft>
            </a:pPr>
            <a:r>
              <a:rPr lang="en-US" sz="1300" b="1" u="none" strike="noStrike">
                <a:solidFill>
                  <a:srgbClr val="4ecdc4"/>
                </a:solidFill>
                <a:effectLst/>
                <a:uFillTx/>
                <a:latin typeface="Calibri"/>
              </a:rPr>
              <a:t>Bonus: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ts val="1820"/>
              </a:lnSpc>
              <a:spcAft>
                <a:spcPts val="400"/>
              </a:spcAft>
            </a:pPr>
            <a:r>
              <a:rPr lang="en-US" sz="1300" b="0" u="none" strike="noStrike">
                <a:solidFill>
                  <a:srgbClr val="7a8599"/>
                </a:solidFill>
                <a:effectLst/>
                <a:uFillTx/>
                <a:latin typeface="Calibri"/>
              </a:rPr>
              <a:t>Add fake names too.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ts val="1820"/>
              </a:lnSpc>
              <a:spcAft>
                <a:spcPts val="400"/>
              </a:spcAft>
            </a:pPr>
            <a:r>
              <a:rPr lang="en-US" sz="1300" b="0" u="none" strike="noStrike">
                <a:solidFill>
                  <a:srgbClr val="7a8599"/>
                </a:solidFill>
                <a:effectLst/>
                <a:uFillTx/>
                <a:latin typeface="Calibri"/>
              </a:rPr>
              <a:t>In a real engagement,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ts val="1820"/>
              </a:lnSpc>
              <a:spcAft>
                <a:spcPts val="400"/>
              </a:spcAft>
            </a:pPr>
            <a:r>
              <a:rPr lang="en-US" sz="1300" b="0" u="none" strike="noStrike">
                <a:solidFill>
                  <a:srgbClr val="7a8599"/>
                </a:solidFill>
                <a:effectLst/>
                <a:uFillTx/>
                <a:latin typeface="Calibri"/>
              </a:rPr>
              <a:t>not every guess will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ts val="1820"/>
              </a:lnSpc>
              <a:spcAft>
                <a:spcPts val="400"/>
              </a:spcAft>
            </a:pPr>
            <a:r>
              <a:rPr lang="en-US" sz="1300" b="0" u="none" strike="noStrike">
                <a:solidFill>
                  <a:srgbClr val="7a8599"/>
                </a:solidFill>
                <a:effectLst/>
                <a:uFillTx/>
                <a:latin typeface="Calibri"/>
              </a:rPr>
              <a:t>be valid .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56" name=""/>
          <p:cNvPicPr/>
          <p:nvPr/>
        </p:nvPicPr>
        <p:blipFill>
          <a:blip r:embed="rId1"/>
          <a:stretch/>
        </p:blipFill>
        <p:spPr>
          <a:xfrm>
            <a:off x="1371600" y="4114800"/>
            <a:ext cx="9065520" cy="21200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11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Rectangle 1"/>
          <p:cNvSpPr/>
          <p:nvPr/>
        </p:nvSpPr>
        <p:spPr>
          <a:xfrm>
            <a:off x="0" y="6473880"/>
            <a:ext cx="12191040" cy="26640"/>
          </a:xfrm>
          <a:prstGeom prst="rect">
            <a:avLst/>
          </a:prstGeom>
          <a:solidFill>
            <a:srgbClr val="4ecdc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7640" bIns="-1764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8" name="TextBox 2"/>
          <p:cNvSpPr/>
          <p:nvPr/>
        </p:nvSpPr>
        <p:spPr>
          <a:xfrm>
            <a:off x="548640" y="6537960"/>
            <a:ext cx="3656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7a8599"/>
                </a:solidFill>
                <a:effectLst/>
                <a:uFillTx/>
                <a:latin typeface="Consolas"/>
              </a:rPr>
              <a:t>MergerMayhem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Box 3"/>
          <p:cNvSpPr/>
          <p:nvPr/>
        </p:nvSpPr>
        <p:spPr>
          <a:xfrm>
            <a:off x="7315200" y="6537960"/>
            <a:ext cx="42969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7a8599"/>
                </a:solidFill>
                <a:effectLst/>
                <a:uFillTx/>
                <a:latin typeface="Calibri"/>
              </a:rPr>
              <a:t>Ocelot Security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0" name="Oval 4"/>
          <p:cNvSpPr/>
          <p:nvPr/>
        </p:nvSpPr>
        <p:spPr>
          <a:xfrm>
            <a:off x="548640" y="365760"/>
            <a:ext cx="502200" cy="502200"/>
          </a:xfrm>
          <a:prstGeom prst="ellipse">
            <a:avLst/>
          </a:prstGeom>
          <a:solidFill>
            <a:srgbClr val="4ecdc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1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Box 5"/>
          <p:cNvSpPr/>
          <p:nvPr/>
        </p:nvSpPr>
        <p:spPr>
          <a:xfrm>
            <a:off x="1280160" y="365760"/>
            <a:ext cx="73144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User enumeration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Box 6"/>
          <p:cNvSpPr/>
          <p:nvPr/>
        </p:nvSpPr>
        <p:spPr>
          <a:xfrm>
            <a:off x="228600" y="2743200"/>
            <a:ext cx="5485680" cy="182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ts val="1820"/>
              </a:lnSpc>
              <a:spcAft>
                <a:spcPts val="400"/>
              </a:spcAft>
            </a:pPr>
            <a:r>
              <a:rPr lang="en-US" sz="1600" b="0" u="none" strike="noStrike">
                <a:solidFill>
                  <a:srgbClr val="c8d0dc"/>
                </a:solidFill>
                <a:effectLst/>
                <a:uFillTx/>
                <a:latin typeface="Calibri"/>
              </a:rPr>
              <a:t>Azure's OAuth2 endpoint responds differently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ts val="1820"/>
              </a:lnSpc>
              <a:spcAft>
                <a:spcPts val="400"/>
              </a:spcAft>
            </a:pPr>
            <a:r>
              <a:rPr lang="en-US" sz="1600" b="0" u="none" strike="noStrike">
                <a:solidFill>
                  <a:srgbClr val="c8d0dc"/>
                </a:solidFill>
                <a:effectLst/>
                <a:uFillTx/>
                <a:latin typeface="Calibri"/>
              </a:rPr>
              <a:t>to valid vs invalid usernames.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ts val="1820"/>
              </a:lnSpc>
              <a:spcAft>
                <a:spcPts val="400"/>
              </a:spcAft>
            </a:pPr>
            <a:endParaRPr lang="en-US" sz="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ts val="1820"/>
              </a:lnSpc>
              <a:spcAft>
                <a:spcPts val="400"/>
              </a:spcAft>
            </a:pPr>
            <a:r>
              <a:rPr lang="en-US" sz="1400" b="0" u="none" strike="noStrike">
                <a:solidFill>
                  <a:srgbClr val="7a8599"/>
                </a:solidFill>
                <a:effectLst/>
                <a:uFillTx/>
                <a:latin typeface="Calibri"/>
              </a:rPr>
              <a:t>This is a known behavior — not a vulnerability,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ts val="1820"/>
              </a:lnSpc>
              <a:spcAft>
                <a:spcPts val="400"/>
              </a:spcAft>
            </a:pPr>
            <a:r>
              <a:rPr lang="en-US" sz="1400" b="0" u="none" strike="noStrike">
                <a:solidFill>
                  <a:srgbClr val="7a8599"/>
                </a:solidFill>
                <a:effectLst/>
                <a:uFillTx/>
                <a:latin typeface="Calibri"/>
              </a:rPr>
              <a:t>but it lets you confirm which accounts exist.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3" name="Rectangle 7"/>
          <p:cNvSpPr/>
          <p:nvPr/>
        </p:nvSpPr>
        <p:spPr>
          <a:xfrm>
            <a:off x="685800" y="1371600"/>
            <a:ext cx="9143640" cy="776520"/>
          </a:xfrm>
          <a:prstGeom prst="rect">
            <a:avLst/>
          </a:prstGeom>
          <a:solidFill>
            <a:srgbClr val="0d152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2880" rIns="90000" tIns="137160" bIns="45000" anchor="ctr">
            <a:no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100" b="0" u="none" strike="noStrike">
                <a:solidFill>
                  <a:srgbClr val="4ecdc4"/>
                </a:solidFill>
                <a:effectLst/>
                <a:uFillTx/>
                <a:latin typeface="Consolas"/>
              </a:rPr>
              <a:t>python3 o365spray.py --enum -U userlist.txt -d OcelotSecurity.onmicrosoft.com --enum-module oauth2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Box 9"/>
          <p:cNvSpPr/>
          <p:nvPr/>
        </p:nvSpPr>
        <p:spPr>
          <a:xfrm>
            <a:off x="228600" y="4800600"/>
            <a:ext cx="54856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4ecdc4"/>
                </a:solidFill>
                <a:effectLst/>
                <a:uFillTx/>
                <a:latin typeface="Calibri"/>
              </a:rPr>
              <a:t>You should see ~10 valid users out of your wordlist.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65" name=""/>
          <p:cNvPicPr/>
          <p:nvPr/>
        </p:nvPicPr>
        <p:blipFill>
          <a:blip r:embed="rId1"/>
          <a:stretch/>
        </p:blipFill>
        <p:spPr>
          <a:xfrm>
            <a:off x="5029200" y="2510640"/>
            <a:ext cx="6913080" cy="3204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11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Rectangle 1"/>
          <p:cNvSpPr/>
          <p:nvPr/>
        </p:nvSpPr>
        <p:spPr>
          <a:xfrm>
            <a:off x="0" y="0"/>
            <a:ext cx="12191040" cy="54000"/>
          </a:xfrm>
          <a:prstGeom prst="rect">
            <a:avLst/>
          </a:prstGeom>
          <a:solidFill>
            <a:srgbClr val="e8593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7" name="Oval 2"/>
          <p:cNvSpPr/>
          <p:nvPr/>
        </p:nvSpPr>
        <p:spPr>
          <a:xfrm>
            <a:off x="731520" y="2286000"/>
            <a:ext cx="502200" cy="502200"/>
          </a:xfrm>
          <a:prstGeom prst="ellipse">
            <a:avLst/>
          </a:prstGeom>
          <a:solidFill>
            <a:srgbClr val="e8593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2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Box 3"/>
          <p:cNvSpPr/>
          <p:nvPr/>
        </p:nvSpPr>
        <p:spPr>
          <a:xfrm>
            <a:off x="1463040" y="2194560"/>
            <a:ext cx="914328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4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Password Spraying</a:t>
            </a:r>
            <a:endParaRPr lang="en-US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Box 4"/>
          <p:cNvSpPr/>
          <p:nvPr/>
        </p:nvSpPr>
        <p:spPr>
          <a:xfrm>
            <a:off x="1463040" y="2926080"/>
            <a:ext cx="54856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7a8599"/>
                </a:solidFill>
                <a:effectLst/>
                <a:uFillTx/>
                <a:latin typeface="Calibri"/>
              </a:rPr>
              <a:t>Initial Access  ·  ~10 minutes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11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Rectangle 1"/>
          <p:cNvSpPr/>
          <p:nvPr/>
        </p:nvSpPr>
        <p:spPr>
          <a:xfrm>
            <a:off x="0" y="6473880"/>
            <a:ext cx="12191040" cy="26640"/>
          </a:xfrm>
          <a:prstGeom prst="rect">
            <a:avLst/>
          </a:prstGeom>
          <a:solidFill>
            <a:srgbClr val="4ecdc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7640" bIns="-1764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1" name="TextBox 2"/>
          <p:cNvSpPr/>
          <p:nvPr/>
        </p:nvSpPr>
        <p:spPr>
          <a:xfrm>
            <a:off x="548640" y="6537960"/>
            <a:ext cx="3656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7a8599"/>
                </a:solidFill>
                <a:effectLst/>
                <a:uFillTx/>
                <a:latin typeface="Consolas"/>
              </a:rPr>
              <a:t>MergerMayhem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Box 3"/>
          <p:cNvSpPr/>
          <p:nvPr/>
        </p:nvSpPr>
        <p:spPr>
          <a:xfrm>
            <a:off x="7315200" y="6537960"/>
            <a:ext cx="42969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7a8599"/>
                </a:solidFill>
                <a:effectLst/>
                <a:uFillTx/>
                <a:latin typeface="Calibri"/>
              </a:rPr>
              <a:t>Ocelot Security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3" name="Oval 4"/>
          <p:cNvSpPr/>
          <p:nvPr/>
        </p:nvSpPr>
        <p:spPr>
          <a:xfrm>
            <a:off x="548640" y="365760"/>
            <a:ext cx="502200" cy="502200"/>
          </a:xfrm>
          <a:prstGeom prst="ellipse">
            <a:avLst/>
          </a:prstGeom>
          <a:solidFill>
            <a:srgbClr val="e8593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2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Box 5"/>
          <p:cNvSpPr/>
          <p:nvPr/>
        </p:nvSpPr>
        <p:spPr>
          <a:xfrm>
            <a:off x="1280160" y="365760"/>
            <a:ext cx="73144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Spraying vs brute force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Box 6"/>
          <p:cNvSpPr/>
          <p:nvPr/>
        </p:nvSpPr>
        <p:spPr>
          <a:xfrm>
            <a:off x="731520" y="1280160"/>
            <a:ext cx="4571280" cy="11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ts val="1820"/>
              </a:lnSpc>
              <a:spcAft>
                <a:spcPts val="400"/>
              </a:spcAft>
            </a:pPr>
            <a:r>
              <a:rPr lang="en-US" sz="1800" b="1" u="none" strike="noStrike">
                <a:solidFill>
                  <a:srgbClr val="e8593c"/>
                </a:solidFill>
                <a:effectLst/>
                <a:uFillTx/>
                <a:latin typeface="Calibri"/>
              </a:rPr>
              <a:t>Brute force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ts val="1820"/>
              </a:lnSpc>
              <a:spcAft>
                <a:spcPts val="400"/>
              </a:spcAft>
            </a:pPr>
            <a:r>
              <a:rPr lang="en-US" sz="1400" b="0" u="none" strike="noStrike">
                <a:solidFill>
                  <a:srgbClr val="7a8599"/>
                </a:solidFill>
                <a:effectLst/>
                <a:uFillTx/>
                <a:latin typeface="Calibri"/>
              </a:rPr>
              <a:t>1000 passwords → 1 account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ts val="1820"/>
              </a:lnSpc>
              <a:spcAft>
                <a:spcPts val="400"/>
              </a:spcAft>
            </a:pPr>
            <a:r>
              <a:rPr lang="en-US" sz="1400" b="0" u="none" strike="noStrike">
                <a:solidFill>
                  <a:srgbClr val="7a8599"/>
                </a:solidFill>
                <a:effectLst/>
                <a:uFillTx/>
                <a:latin typeface="Calibri"/>
              </a:rPr>
              <a:t>Triggers lockout immediately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ts val="1820"/>
              </a:lnSpc>
              <a:spcAft>
                <a:spcPts val="400"/>
              </a:spcAft>
            </a:pPr>
            <a:r>
              <a:rPr lang="en-US" sz="1400" b="0" u="none" strike="noStrike">
                <a:solidFill>
                  <a:srgbClr val="7a8599"/>
                </a:solidFill>
                <a:effectLst/>
                <a:uFillTx/>
                <a:latin typeface="Calibri"/>
              </a:rPr>
              <a:t>Loud, obvious, blocked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Box 7"/>
          <p:cNvSpPr/>
          <p:nvPr/>
        </p:nvSpPr>
        <p:spPr>
          <a:xfrm>
            <a:off x="6217920" y="1280160"/>
            <a:ext cx="4571280" cy="182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ts val="1820"/>
              </a:lnSpc>
              <a:spcAft>
                <a:spcPts val="400"/>
              </a:spcAft>
            </a:pPr>
            <a:r>
              <a:rPr lang="en-US" sz="1800" b="1" u="none" strike="noStrike">
                <a:solidFill>
                  <a:srgbClr val="4ecdc4"/>
                </a:solidFill>
                <a:effectLst/>
                <a:uFillTx/>
                <a:latin typeface="Calibri"/>
              </a:rPr>
              <a:t>Password spray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ts val="1820"/>
              </a:lnSpc>
              <a:spcAft>
                <a:spcPts val="400"/>
              </a:spcAft>
            </a:pPr>
            <a:r>
              <a:rPr lang="en-US" sz="1400" b="0" u="none" strike="noStrike">
                <a:solidFill>
                  <a:srgbClr val="c8d0dc"/>
                </a:solidFill>
                <a:effectLst/>
                <a:uFillTx/>
                <a:latin typeface="Calibri"/>
              </a:rPr>
              <a:t>1 password → 1000 accounts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ts val="1820"/>
              </a:lnSpc>
              <a:spcAft>
                <a:spcPts val="400"/>
              </a:spcAft>
            </a:pPr>
            <a:r>
              <a:rPr lang="en-US" sz="1400" b="0" u="none" strike="noStrike">
                <a:solidFill>
                  <a:srgbClr val="c8d0dc"/>
                </a:solidFill>
                <a:effectLst/>
                <a:uFillTx/>
                <a:latin typeface="Calibri"/>
              </a:rPr>
              <a:t>Stays under lockout threshold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ts val="1820"/>
              </a:lnSpc>
              <a:spcAft>
                <a:spcPts val="400"/>
              </a:spcAft>
            </a:pPr>
            <a:r>
              <a:rPr lang="en-US" sz="1400" b="0" u="none" strike="noStrike">
                <a:solidFill>
                  <a:srgbClr val="c8d0dc"/>
                </a:solidFill>
                <a:effectLst/>
                <a:uFillTx/>
                <a:latin typeface="Calibri"/>
              </a:rPr>
              <a:t>Quiet, effective, realistic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Box 8"/>
          <p:cNvSpPr/>
          <p:nvPr/>
        </p:nvSpPr>
        <p:spPr>
          <a:xfrm>
            <a:off x="731520" y="3291840"/>
            <a:ext cx="10057680" cy="229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ts val="1820"/>
              </a:lnSpc>
              <a:spcAft>
                <a:spcPts val="400"/>
              </a:spcAf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Why does it work during mergers?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ts val="1820"/>
              </a:lnSpc>
              <a:spcAft>
                <a:spcPts val="400"/>
              </a:spcAft>
            </a:pPr>
            <a:endParaRPr lang="en-US" sz="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ts val="1820"/>
              </a:lnSpc>
              <a:spcAft>
                <a:spcPts val="400"/>
              </a:spcAft>
            </a:pPr>
            <a:r>
              <a:rPr lang="en-US" sz="1400" b="0" u="none" strike="noStrike">
                <a:solidFill>
                  <a:srgbClr val="c8d0dc"/>
                </a:solidFill>
                <a:effectLst/>
                <a:uFillTx/>
                <a:latin typeface="Calibri"/>
              </a:rPr>
              <a:t>→  New hires get temp passwords that nobody rotates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ts val="1820"/>
              </a:lnSpc>
              <a:spcAft>
                <a:spcPts val="400"/>
              </a:spcAft>
            </a:pPr>
            <a:r>
              <a:rPr lang="en-US" sz="1400" b="0" u="none" strike="noStrike">
                <a:solidFill>
                  <a:srgbClr val="c8d0dc"/>
                </a:solidFill>
                <a:effectLst/>
                <a:uFillTx/>
                <a:latin typeface="Calibri"/>
              </a:rPr>
              <a:t>→  IT teams are stretched thin, skip password policies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ts val="1820"/>
              </a:lnSpc>
              <a:spcAft>
                <a:spcPts val="400"/>
              </a:spcAft>
            </a:pPr>
            <a:r>
              <a:rPr lang="en-US" sz="1400" b="0" u="none" strike="noStrike">
                <a:solidFill>
                  <a:srgbClr val="c8d0dc"/>
                </a:solidFill>
                <a:effectLst/>
                <a:uFillTx/>
                <a:latin typeface="Calibri"/>
              </a:rPr>
              <a:t>→  Seasonal patterns: Welcome2026!, Summer2026!, Company2026!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ts val="1820"/>
              </a:lnSpc>
              <a:spcAft>
                <a:spcPts val="400"/>
              </a:spcAft>
            </a:pP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ts val="1820"/>
              </a:lnSpc>
              <a:spcAft>
                <a:spcPts val="400"/>
              </a:spcAf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ts val="1820"/>
              </a:lnSpc>
              <a:spcAft>
                <a:spcPts val="400"/>
              </a:spcAft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11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Rectangle 1"/>
          <p:cNvSpPr/>
          <p:nvPr/>
        </p:nvSpPr>
        <p:spPr>
          <a:xfrm>
            <a:off x="0" y="6473880"/>
            <a:ext cx="12191040" cy="26640"/>
          </a:xfrm>
          <a:prstGeom prst="rect">
            <a:avLst/>
          </a:prstGeom>
          <a:solidFill>
            <a:srgbClr val="4ecdc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7640" bIns="-1764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9" name="TextBox 2"/>
          <p:cNvSpPr/>
          <p:nvPr/>
        </p:nvSpPr>
        <p:spPr>
          <a:xfrm>
            <a:off x="548640" y="6537960"/>
            <a:ext cx="3656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7a8599"/>
                </a:solidFill>
                <a:effectLst/>
                <a:uFillTx/>
                <a:latin typeface="Consolas"/>
              </a:rPr>
              <a:t>MergerMayhem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Box 3"/>
          <p:cNvSpPr/>
          <p:nvPr/>
        </p:nvSpPr>
        <p:spPr>
          <a:xfrm>
            <a:off x="7315200" y="6537960"/>
            <a:ext cx="42969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7a8599"/>
                </a:solidFill>
                <a:effectLst/>
                <a:uFillTx/>
                <a:latin typeface="Calibri"/>
              </a:rPr>
              <a:t>Ocelot Security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1" name="Oval 4"/>
          <p:cNvSpPr/>
          <p:nvPr/>
        </p:nvSpPr>
        <p:spPr>
          <a:xfrm>
            <a:off x="548640" y="365760"/>
            <a:ext cx="502200" cy="502200"/>
          </a:xfrm>
          <a:prstGeom prst="ellipse">
            <a:avLst/>
          </a:prstGeom>
          <a:solidFill>
            <a:srgbClr val="e8593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2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Box 5"/>
          <p:cNvSpPr/>
          <p:nvPr/>
        </p:nvSpPr>
        <p:spPr>
          <a:xfrm>
            <a:off x="1280160" y="365760"/>
            <a:ext cx="73144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Execute the spray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3" name="Rectangle 6"/>
          <p:cNvSpPr/>
          <p:nvPr/>
        </p:nvSpPr>
        <p:spPr>
          <a:xfrm>
            <a:off x="274320" y="1143000"/>
            <a:ext cx="9326520" cy="1371240"/>
          </a:xfrm>
          <a:prstGeom prst="rect">
            <a:avLst/>
          </a:prstGeom>
          <a:solidFill>
            <a:srgbClr val="0d152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2880" rIns="90000" tIns="137160" bIns="45000" anchor="ctr">
            <a:no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100" b="0" u="none" strike="noStrike">
                <a:solidFill>
                  <a:srgbClr val="4ecdc4"/>
                </a:solidFill>
                <a:effectLst/>
                <a:uFillTx/>
                <a:latin typeface="Consolas"/>
              </a:rPr>
              <a:t># Python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100" b="0" u="none" strike="noStrike">
                <a:solidFill>
                  <a:srgbClr val="4ecdc4"/>
                </a:solidFill>
                <a:effectLst/>
                <a:uFillTx/>
                <a:latin typeface="Consolas"/>
              </a:rPr>
              <a:t>python3 o365spray.py --spray -U valid_users.txt -p "Welcome2026!" -d OcelotSecurity.onmicrosoft.com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100" b="0" u="none" strike="noStrike">
                <a:solidFill>
                  <a:srgbClr val="4ecdc4"/>
                </a:solidFill>
                <a:effectLst/>
                <a:uFillTx/>
                <a:latin typeface="Consolas"/>
              </a:rPr>
              <a:t># PowerShell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100" b="0" u="none" strike="noStrike">
                <a:solidFill>
                  <a:srgbClr val="4ecdc4"/>
                </a:solidFill>
                <a:effectLst/>
                <a:uFillTx/>
                <a:latin typeface="Consolas"/>
              </a:rPr>
              <a:t>Import-Module .\MSOLSpray.ps1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100" b="0" u="none" strike="noStrike">
                <a:solidFill>
                  <a:srgbClr val="4ecdc4"/>
                </a:solidFill>
                <a:effectLst/>
                <a:uFillTx/>
                <a:latin typeface="Consolas"/>
              </a:rPr>
              <a:t>Invoke-MSOLSpray -UserList .\valid_users.txt -Password "Welcome2026!"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Box 8"/>
          <p:cNvSpPr/>
          <p:nvPr/>
        </p:nvSpPr>
        <p:spPr>
          <a:xfrm>
            <a:off x="360" y="3429000"/>
            <a:ext cx="5028480" cy="116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ts val="1820"/>
              </a:lnSpc>
              <a:spcAft>
                <a:spcPts val="400"/>
              </a:spcAf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What other passwords would you try?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ts val="1820"/>
              </a:lnSpc>
              <a:spcAft>
                <a:spcPts val="400"/>
              </a:spcAft>
            </a:pPr>
            <a:endParaRPr lang="en-US" sz="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ts val="1820"/>
              </a:lnSpc>
              <a:spcAft>
                <a:spcPts val="400"/>
              </a:spcAft>
            </a:pPr>
            <a:r>
              <a:rPr lang="en-US" sz="1400" b="0" u="none" strike="noStrike">
                <a:solidFill>
                  <a:srgbClr val="c8d0dc"/>
                </a:solidFill>
                <a:effectLst/>
                <a:uFillTx/>
                <a:latin typeface="Consolas"/>
              </a:rPr>
              <a:t>  Summer2026!    Winter2026!    Ocelot2026!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ts val="1820"/>
              </a:lnSpc>
              <a:spcAft>
                <a:spcPts val="400"/>
              </a:spcAft>
            </a:pPr>
            <a:r>
              <a:rPr lang="en-US" sz="1400" b="0" u="none" strike="noStrike">
                <a:solidFill>
                  <a:srgbClr val="c8d0dc"/>
                </a:solidFill>
                <a:effectLst/>
                <a:uFillTx/>
                <a:latin typeface="Consolas"/>
              </a:rPr>
              <a:t>  Welcome123!    Password1!     Revolver2026!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85" name=""/>
          <p:cNvPicPr/>
          <p:nvPr/>
        </p:nvPicPr>
        <p:blipFill>
          <a:blip r:embed="rId1"/>
          <a:stretch/>
        </p:blipFill>
        <p:spPr>
          <a:xfrm>
            <a:off x="5029200" y="2736720"/>
            <a:ext cx="7023960" cy="34351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11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Rectangle 1"/>
          <p:cNvSpPr/>
          <p:nvPr/>
        </p:nvSpPr>
        <p:spPr>
          <a:xfrm>
            <a:off x="0" y="0"/>
            <a:ext cx="12191040" cy="54000"/>
          </a:xfrm>
          <a:prstGeom prst="rect">
            <a:avLst/>
          </a:prstGeom>
          <a:solidFill>
            <a:srgbClr val="1a73e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7" name="Oval 2"/>
          <p:cNvSpPr/>
          <p:nvPr/>
        </p:nvSpPr>
        <p:spPr>
          <a:xfrm>
            <a:off x="731520" y="2286000"/>
            <a:ext cx="502200" cy="502200"/>
          </a:xfrm>
          <a:prstGeom prst="ellipse">
            <a:avLst/>
          </a:prstGeom>
          <a:solidFill>
            <a:srgbClr val="1a73e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3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Box 3"/>
          <p:cNvSpPr/>
          <p:nvPr/>
        </p:nvSpPr>
        <p:spPr>
          <a:xfrm>
            <a:off x="1463040" y="2194560"/>
            <a:ext cx="914328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4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Post-Compromise Enumeration</a:t>
            </a:r>
            <a:endParaRPr lang="en-US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Box 4"/>
          <p:cNvSpPr/>
          <p:nvPr/>
        </p:nvSpPr>
        <p:spPr>
          <a:xfrm>
            <a:off x="1463040" y="2926080"/>
            <a:ext cx="73144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7a8599"/>
                </a:solidFill>
                <a:effectLst/>
                <a:uFillTx/>
                <a:latin typeface="Calibri"/>
              </a:rPr>
              <a:t>Microsoft Graph API  ·  ~12 minutes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11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Rectangle 1"/>
          <p:cNvSpPr/>
          <p:nvPr/>
        </p:nvSpPr>
        <p:spPr>
          <a:xfrm>
            <a:off x="0" y="6473880"/>
            <a:ext cx="12191040" cy="26640"/>
          </a:xfrm>
          <a:prstGeom prst="rect">
            <a:avLst/>
          </a:prstGeom>
          <a:solidFill>
            <a:srgbClr val="4ecdc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7640" bIns="-1764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1" name="TextBox 2"/>
          <p:cNvSpPr/>
          <p:nvPr/>
        </p:nvSpPr>
        <p:spPr>
          <a:xfrm>
            <a:off x="548640" y="6537960"/>
            <a:ext cx="3656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7a8599"/>
                </a:solidFill>
                <a:effectLst/>
                <a:uFillTx/>
                <a:latin typeface="Consolas"/>
              </a:rPr>
              <a:t>MergerMayhem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Box 3"/>
          <p:cNvSpPr/>
          <p:nvPr/>
        </p:nvSpPr>
        <p:spPr>
          <a:xfrm>
            <a:off x="7315200" y="6537960"/>
            <a:ext cx="42969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7a8599"/>
                </a:solidFill>
                <a:effectLst/>
                <a:uFillTx/>
                <a:latin typeface="Calibri"/>
              </a:rPr>
              <a:t>Ocelot Security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3" name="Oval 4"/>
          <p:cNvSpPr/>
          <p:nvPr/>
        </p:nvSpPr>
        <p:spPr>
          <a:xfrm>
            <a:off x="548640" y="365760"/>
            <a:ext cx="502200" cy="502200"/>
          </a:xfrm>
          <a:prstGeom prst="ellipse">
            <a:avLst/>
          </a:prstGeom>
          <a:solidFill>
            <a:srgbClr val="1a73e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3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Box 5"/>
          <p:cNvSpPr/>
          <p:nvPr/>
        </p:nvSpPr>
        <p:spPr>
          <a:xfrm>
            <a:off x="1280160" y="365760"/>
            <a:ext cx="91432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Every user can read the entire directory</a:t>
            </a:r>
            <a:endParaRPr lang="en-US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5" name="TextBox 6"/>
          <p:cNvSpPr/>
          <p:nvPr/>
        </p:nvSpPr>
        <p:spPr>
          <a:xfrm>
            <a:off x="731520" y="1188720"/>
            <a:ext cx="10057680" cy="457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ts val="1820"/>
              </a:lnSpc>
              <a:spcAft>
                <a:spcPts val="400"/>
              </a:spcAft>
            </a:pPr>
            <a:r>
              <a:rPr lang="en-US" sz="1600" b="0" u="none" strike="noStrike">
                <a:solidFill>
                  <a:srgbClr val="c8d0dc"/>
                </a:solidFill>
                <a:effectLst/>
                <a:uFillTx/>
                <a:latin typeface="Calibri"/>
              </a:rPr>
              <a:t>By default, every Entra ID member can: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ts val="1820"/>
              </a:lnSpc>
              <a:spcAft>
                <a:spcPts val="400"/>
              </a:spcAft>
            </a:pPr>
            <a:endParaRPr lang="en-US" sz="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ts val="1820"/>
              </a:lnSpc>
              <a:spcAft>
                <a:spcPts val="400"/>
              </a:spcAft>
            </a:pPr>
            <a:r>
              <a:rPr lang="en-US" sz="1500" b="0" u="none" strike="noStrike">
                <a:solidFill>
                  <a:srgbClr val="c8d0dc"/>
                </a:solidFill>
                <a:effectLst/>
                <a:uFillTx/>
                <a:latin typeface="Calibri"/>
              </a:rPr>
              <a:t>→  List all users, groups, and their memberships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ts val="1820"/>
              </a:lnSpc>
              <a:spcAft>
                <a:spcPts val="400"/>
              </a:spcAft>
            </a:pPr>
            <a:r>
              <a:rPr lang="en-US" sz="1500" b="0" u="none" strike="noStrike">
                <a:solidFill>
                  <a:srgbClr val="c8d0dc"/>
                </a:solidFill>
                <a:effectLst/>
                <a:uFillTx/>
                <a:latin typeface="Calibri"/>
              </a:rPr>
              <a:t>→  See application registrations and service principals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ts val="1820"/>
              </a:lnSpc>
              <a:spcAft>
                <a:spcPts val="400"/>
              </a:spcAft>
            </a:pPr>
            <a:r>
              <a:rPr lang="en-US" sz="1500" b="0" u="none" strike="noStrike">
                <a:solidFill>
                  <a:srgbClr val="c8d0dc"/>
                </a:solidFill>
                <a:effectLst/>
                <a:uFillTx/>
                <a:latin typeface="Calibri"/>
              </a:rPr>
              <a:t>→  Search SharePoint sites they have access to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ts val="1820"/>
              </a:lnSpc>
              <a:spcAft>
                <a:spcPts val="400"/>
              </a:spcAft>
            </a:pPr>
            <a:r>
              <a:rPr lang="en-US" sz="1500" b="0" u="none" strike="noStrike">
                <a:solidFill>
                  <a:srgbClr val="c8d0dc"/>
                </a:solidFill>
                <a:effectLst/>
                <a:uFillTx/>
                <a:latin typeface="Calibri"/>
              </a:rPr>
              <a:t>→  Read their own profile and group memberships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ts val="1820"/>
              </a:lnSpc>
              <a:spcAft>
                <a:spcPts val="400"/>
              </a:spcAft>
            </a:pP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ts val="1820"/>
              </a:lnSpc>
              <a:spcAft>
                <a:spcPts val="400"/>
              </a:spcAft>
            </a:pPr>
            <a:r>
              <a:rPr lang="en-US" sz="1600" b="1" u="none" strike="noStrike">
                <a:solidFill>
                  <a:srgbClr val="4ecdc4"/>
                </a:solidFill>
                <a:effectLst/>
                <a:uFillTx/>
                <a:latin typeface="Calibri"/>
              </a:rPr>
              <a:t>One compromised account = full directory enumeration.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ts val="1820"/>
              </a:lnSpc>
              <a:spcAft>
                <a:spcPts val="400"/>
              </a:spcAft>
            </a:pPr>
            <a:endParaRPr lang="en-US" sz="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ts val="1820"/>
              </a:lnSpc>
              <a:spcAft>
                <a:spcPts val="400"/>
              </a:spcAft>
            </a:pPr>
            <a:r>
              <a:rPr lang="en-US" sz="1400" b="0" u="none" strike="noStrike">
                <a:solidFill>
                  <a:srgbClr val="7a8599"/>
                </a:solidFill>
                <a:effectLst/>
                <a:uFillTx/>
                <a:latin typeface="Calibri"/>
              </a:rPr>
              <a:t>All of this is done through the Microsoft Graph API.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ts val="1820"/>
              </a:lnSpc>
              <a:spcAft>
                <a:spcPts val="400"/>
              </a:spcAft>
            </a:pPr>
            <a:r>
              <a:rPr lang="en-US" sz="1400" b="0" u="none" strike="noStrike">
                <a:solidFill>
                  <a:srgbClr val="7a8599"/>
                </a:solidFill>
                <a:effectLst/>
                <a:uFillTx/>
                <a:latin typeface="Calibri"/>
              </a:rPr>
              <a:t>GraphRunner wraps these API calls into PowerShell commands.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11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Rectangle 1"/>
          <p:cNvSpPr/>
          <p:nvPr/>
        </p:nvSpPr>
        <p:spPr>
          <a:xfrm>
            <a:off x="0" y="6473880"/>
            <a:ext cx="12191040" cy="26640"/>
          </a:xfrm>
          <a:prstGeom prst="rect">
            <a:avLst/>
          </a:prstGeom>
          <a:solidFill>
            <a:srgbClr val="4ecdc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7640" bIns="-1764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7" name="TextBox 2"/>
          <p:cNvSpPr/>
          <p:nvPr/>
        </p:nvSpPr>
        <p:spPr>
          <a:xfrm>
            <a:off x="548640" y="6537960"/>
            <a:ext cx="3656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7a8599"/>
                </a:solidFill>
                <a:effectLst/>
                <a:uFillTx/>
                <a:latin typeface="Consolas"/>
              </a:rPr>
              <a:t>MergerMayhem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8" name="TextBox 3"/>
          <p:cNvSpPr/>
          <p:nvPr/>
        </p:nvSpPr>
        <p:spPr>
          <a:xfrm>
            <a:off x="7315200" y="6537960"/>
            <a:ext cx="42969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7a8599"/>
                </a:solidFill>
                <a:effectLst/>
                <a:uFillTx/>
                <a:latin typeface="Calibri"/>
              </a:rPr>
              <a:t>Ocelot Security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9" name="Oval 4"/>
          <p:cNvSpPr/>
          <p:nvPr/>
        </p:nvSpPr>
        <p:spPr>
          <a:xfrm>
            <a:off x="548640" y="365760"/>
            <a:ext cx="502200" cy="502200"/>
          </a:xfrm>
          <a:prstGeom prst="ellipse">
            <a:avLst/>
          </a:prstGeom>
          <a:solidFill>
            <a:srgbClr val="1a73e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3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Box 5"/>
          <p:cNvSpPr/>
          <p:nvPr/>
        </p:nvSpPr>
        <p:spPr>
          <a:xfrm>
            <a:off x="1280160" y="365760"/>
            <a:ext cx="73144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Enumerate with GraphRunner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1" name="Rectangle 6"/>
          <p:cNvSpPr/>
          <p:nvPr/>
        </p:nvSpPr>
        <p:spPr>
          <a:xfrm>
            <a:off x="274320" y="1143000"/>
            <a:ext cx="10240920" cy="2285280"/>
          </a:xfrm>
          <a:prstGeom prst="rect">
            <a:avLst/>
          </a:prstGeom>
          <a:solidFill>
            <a:srgbClr val="0d152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2880" rIns="90000" tIns="137160" bIns="45000" anchor="ctr">
            <a:no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300" b="0" u="none" strike="noStrike">
                <a:solidFill>
                  <a:srgbClr val="4ecdc4"/>
                </a:solidFill>
                <a:effectLst/>
                <a:uFillTx/>
                <a:latin typeface="Consolas"/>
              </a:rPr>
              <a:t>Import-Module .\GraphRunner.ps1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300" b="0" u="none" strike="noStrike">
                <a:solidFill>
                  <a:srgbClr val="4ecdc4"/>
                </a:solidFill>
                <a:effectLst/>
                <a:uFillTx/>
                <a:latin typeface="Consolas"/>
              </a:rPr>
              <a:t>Get-GraphTokens t.wilson@OcelotSecurity.onmicrosoft.com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300" b="0" u="none" strike="noStrike">
                <a:solidFill>
                  <a:srgbClr val="4ecdc4"/>
                </a:solidFill>
                <a:effectLst/>
                <a:uFillTx/>
                <a:latin typeface="Consolas"/>
              </a:rPr>
              <a:t>Invoke-GraphRecon -Tokens $tokens -PermissionEnum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300" b="0" u="none" strike="noStrike">
                <a:solidFill>
                  <a:srgbClr val="4ecdc4"/>
                </a:solidFill>
                <a:effectLst/>
                <a:uFillTx/>
                <a:latin typeface="Consolas"/>
              </a:rPr>
              <a:t>Get-AzureADUsers -Tokens $tokens -OutFile users.txt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300" b="0" u="none" strike="noStrike">
                <a:solidFill>
                  <a:srgbClr val="4ecdc4"/>
                </a:solidFill>
                <a:effectLst/>
                <a:uFillTx/>
                <a:latin typeface="Consolas"/>
              </a:rPr>
              <a:t>Get-SecurityGroups -AccessToken $tokens.access_token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300" b="0" u="none" strike="noStrike">
                <a:solidFill>
                  <a:srgbClr val="4ecdc4"/>
                </a:solidFill>
                <a:effectLst/>
                <a:uFillTx/>
                <a:latin typeface="Consolas"/>
              </a:rPr>
              <a:t>Get-SharePointSiteURLs -Tokens $tokens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2" name="Rectangle 8"/>
          <p:cNvSpPr/>
          <p:nvPr/>
        </p:nvSpPr>
        <p:spPr>
          <a:xfrm>
            <a:off x="274320" y="3611880"/>
            <a:ext cx="9555120" cy="1416960"/>
          </a:xfrm>
          <a:prstGeom prst="rect">
            <a:avLst/>
          </a:prstGeom>
          <a:solidFill>
            <a:srgbClr val="0d152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2880" rIns="90000" tIns="137160" bIns="45000" anchor="ctr">
            <a:no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300" b="0" u="none" strike="noStrike">
                <a:solidFill>
                  <a:srgbClr val="4ecdc4"/>
                </a:solidFill>
                <a:effectLst/>
                <a:uFillTx/>
                <a:latin typeface="Consolas"/>
              </a:rPr>
              <a:t># Search for interesting files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lang="en-US" sz="1300" b="0" u="none" strike="noStrike">
                <a:solidFill>
                  <a:srgbClr val="4ecdc4"/>
                </a:solidFill>
                <a:effectLst/>
                <a:uFillTx/>
                <a:latin typeface="Consolas"/>
              </a:rPr>
              <a:t>Invoke-SearchSharePointAndOneDrive -Tokens $tokens -SearchTerm "credentials"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3" name="TextBox 9"/>
          <p:cNvSpPr/>
          <p:nvPr/>
        </p:nvSpPr>
        <p:spPr>
          <a:xfrm>
            <a:off x="2103120" y="5121000"/>
            <a:ext cx="726912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2200" b="0" u="none" strike="noStrike">
                <a:solidFill>
                  <a:srgbClr val="7a8599"/>
                </a:solidFill>
                <a:effectLst/>
                <a:uFillTx/>
                <a:latin typeface="Calibri"/>
              </a:rPr>
              <a:t>Or just log into portal.office.com and browse!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11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Rectangle 1"/>
          <p:cNvSpPr/>
          <p:nvPr/>
        </p:nvSpPr>
        <p:spPr>
          <a:xfrm>
            <a:off x="0" y="6473880"/>
            <a:ext cx="12191040" cy="26640"/>
          </a:xfrm>
          <a:prstGeom prst="rect">
            <a:avLst/>
          </a:prstGeom>
          <a:solidFill>
            <a:srgbClr val="4ecdc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7640" bIns="-1764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5" name="TextBox 2"/>
          <p:cNvSpPr/>
          <p:nvPr/>
        </p:nvSpPr>
        <p:spPr>
          <a:xfrm>
            <a:off x="548640" y="6537960"/>
            <a:ext cx="3656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7a8599"/>
                </a:solidFill>
                <a:effectLst/>
                <a:uFillTx/>
                <a:latin typeface="Consolas"/>
              </a:rPr>
              <a:t>MergerMayhem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6" name="TextBox 3"/>
          <p:cNvSpPr/>
          <p:nvPr/>
        </p:nvSpPr>
        <p:spPr>
          <a:xfrm>
            <a:off x="7315200" y="6537960"/>
            <a:ext cx="42969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7a8599"/>
                </a:solidFill>
                <a:effectLst/>
                <a:uFillTx/>
                <a:latin typeface="Calibri"/>
              </a:rPr>
              <a:t>Ocelot Security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7" name="Oval 4"/>
          <p:cNvSpPr/>
          <p:nvPr/>
        </p:nvSpPr>
        <p:spPr>
          <a:xfrm>
            <a:off x="548640" y="365760"/>
            <a:ext cx="502200" cy="502200"/>
          </a:xfrm>
          <a:prstGeom prst="ellipse">
            <a:avLst/>
          </a:prstGeom>
          <a:solidFill>
            <a:srgbClr val="1a73e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3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8" name="TextBox 5"/>
          <p:cNvSpPr/>
          <p:nvPr/>
        </p:nvSpPr>
        <p:spPr>
          <a:xfrm>
            <a:off x="1280160" y="365760"/>
            <a:ext cx="73144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The SharePoint goldmine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9" name="TextBox 6"/>
          <p:cNvSpPr/>
          <p:nvPr/>
        </p:nvSpPr>
        <p:spPr>
          <a:xfrm>
            <a:off x="457560" y="914400"/>
            <a:ext cx="7771680" cy="111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ts val="1820"/>
              </a:lnSpc>
              <a:spcAft>
                <a:spcPts val="400"/>
              </a:spcAf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ts val="1820"/>
              </a:lnSpc>
              <a:spcAft>
                <a:spcPts val="400"/>
              </a:spcAft>
            </a:pPr>
            <a:endParaRPr lang="en-US" sz="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ts val="1820"/>
              </a:lnSpc>
              <a:spcAft>
                <a:spcPts val="400"/>
              </a:spcAft>
            </a:pPr>
            <a:r>
              <a:rPr lang="en-US" sz="1500" b="0" u="none" strike="noStrike">
                <a:solidFill>
                  <a:srgbClr val="c8d0dc"/>
                </a:solidFill>
                <a:effectLst/>
                <a:uFillTx/>
                <a:latin typeface="Calibri"/>
              </a:rPr>
              <a:t>People store everything there — migration docs, onboarding checklists, credentials spreadsheets, architecture diagrams, API keys, you name it.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10" name=""/>
          <p:cNvPicPr/>
          <p:nvPr/>
        </p:nvPicPr>
        <p:blipFill>
          <a:blip r:embed="rId1"/>
          <a:stretch/>
        </p:blipFill>
        <p:spPr>
          <a:xfrm>
            <a:off x="2057400" y="2286000"/>
            <a:ext cx="8794800" cy="36136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11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Rectangle 1"/>
          <p:cNvSpPr/>
          <p:nvPr/>
        </p:nvSpPr>
        <p:spPr>
          <a:xfrm>
            <a:off x="0" y="0"/>
            <a:ext cx="12191040" cy="54000"/>
          </a:xfrm>
          <a:prstGeom prst="rect">
            <a:avLst/>
          </a:prstGeom>
          <a:solidFill>
            <a:srgbClr val="f0a8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2" name="Oval 2"/>
          <p:cNvSpPr/>
          <p:nvPr/>
        </p:nvSpPr>
        <p:spPr>
          <a:xfrm>
            <a:off x="731520" y="2286000"/>
            <a:ext cx="502200" cy="502200"/>
          </a:xfrm>
          <a:prstGeom prst="ellipse">
            <a:avLst/>
          </a:prstGeom>
          <a:solidFill>
            <a:srgbClr val="f0a8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4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TextBox 3"/>
          <p:cNvSpPr/>
          <p:nvPr/>
        </p:nvSpPr>
        <p:spPr>
          <a:xfrm>
            <a:off x="1463040" y="2194560"/>
            <a:ext cx="914328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4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Lateral Movement</a:t>
            </a:r>
            <a:endParaRPr lang="en-US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4" name="TextBox 4"/>
          <p:cNvSpPr/>
          <p:nvPr/>
        </p:nvSpPr>
        <p:spPr>
          <a:xfrm>
            <a:off x="1463040" y="2926080"/>
            <a:ext cx="54856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7a8599"/>
                </a:solidFill>
                <a:effectLst/>
                <a:uFillTx/>
                <a:latin typeface="Calibri"/>
              </a:rPr>
              <a:t>Credential Reuse  ·  ~10 minutes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11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Rectangle 1"/>
          <p:cNvSpPr/>
          <p:nvPr/>
        </p:nvSpPr>
        <p:spPr>
          <a:xfrm>
            <a:off x="0" y="6473880"/>
            <a:ext cx="12191040" cy="26640"/>
          </a:xfrm>
          <a:prstGeom prst="rect">
            <a:avLst/>
          </a:prstGeom>
          <a:solidFill>
            <a:srgbClr val="4ecdc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7640" bIns="-1764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6" name="TextBox 2"/>
          <p:cNvSpPr/>
          <p:nvPr/>
        </p:nvSpPr>
        <p:spPr>
          <a:xfrm>
            <a:off x="548640" y="6537960"/>
            <a:ext cx="3656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7a8599"/>
                </a:solidFill>
                <a:effectLst/>
                <a:uFillTx/>
                <a:latin typeface="Consolas"/>
              </a:rPr>
              <a:t>MergerMayhem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7" name="TextBox 3"/>
          <p:cNvSpPr/>
          <p:nvPr/>
        </p:nvSpPr>
        <p:spPr>
          <a:xfrm>
            <a:off x="7315200" y="6537960"/>
            <a:ext cx="42969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7a8599"/>
                </a:solidFill>
                <a:effectLst/>
                <a:uFillTx/>
                <a:latin typeface="Calibri"/>
              </a:rPr>
              <a:t>Ocelot Security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8" name="Oval 4"/>
          <p:cNvSpPr/>
          <p:nvPr/>
        </p:nvSpPr>
        <p:spPr>
          <a:xfrm>
            <a:off x="548640" y="365760"/>
            <a:ext cx="502200" cy="502200"/>
          </a:xfrm>
          <a:prstGeom prst="ellipse">
            <a:avLst/>
          </a:prstGeom>
          <a:solidFill>
            <a:srgbClr val="f0a8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4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TextBox 5"/>
          <p:cNvSpPr/>
          <p:nvPr/>
        </p:nvSpPr>
        <p:spPr>
          <a:xfrm>
            <a:off x="1280160" y="365760"/>
            <a:ext cx="73144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Pivot to Revolver Industries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0" name="TextBox 6"/>
          <p:cNvSpPr/>
          <p:nvPr/>
        </p:nvSpPr>
        <p:spPr>
          <a:xfrm>
            <a:off x="457200" y="2057760"/>
            <a:ext cx="5028480" cy="319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ts val="1820"/>
              </a:lnSpc>
              <a:spcAft>
                <a:spcPts val="400"/>
              </a:spcAft>
            </a:pPr>
            <a:r>
              <a:rPr lang="en-US" sz="1600" b="0" u="none" strike="noStrike">
                <a:solidFill>
                  <a:srgbClr val="c8d0dc"/>
                </a:solidFill>
                <a:effectLst/>
                <a:uFillTx/>
                <a:latin typeface="Calibri"/>
              </a:rPr>
              <a:t>You found m.chang's password in the spreadsheet.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ts val="1820"/>
              </a:lnSpc>
              <a:spcAft>
                <a:spcPts val="400"/>
              </a:spcAft>
            </a:pPr>
            <a:endParaRPr lang="en-US" sz="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ts val="1820"/>
              </a:lnSpc>
              <a:spcAft>
                <a:spcPts val="400"/>
              </a:spcAft>
            </a:pPr>
            <a:r>
              <a:rPr lang="en-US" sz="1500" b="0" u="none" strike="noStrike">
                <a:solidFill>
                  <a:srgbClr val="c8d0dc"/>
                </a:solidFill>
                <a:effectLst/>
                <a:uFillTx/>
                <a:latin typeface="Calibri"/>
              </a:rPr>
              <a:t>Incognito window → portal.office.com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ts val="1820"/>
              </a:lnSpc>
              <a:spcAft>
                <a:spcPts val="400"/>
              </a:spcAft>
            </a:pPr>
            <a:r>
              <a:rPr lang="en-US" sz="1400" b="0" u="none" strike="noStrike">
                <a:solidFill>
                  <a:srgbClr val="4ecdc4"/>
                </a:solidFill>
                <a:effectLst/>
                <a:uFillTx/>
                <a:latin typeface="Consolas"/>
              </a:rPr>
              <a:t>Sign in as m.chang@OcelotSecurity.onmicrosoft.com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ts val="1820"/>
              </a:lnSpc>
              <a:spcAft>
                <a:spcPts val="400"/>
              </a:spcAft>
            </a:pPr>
            <a:endParaRPr lang="en-US" sz="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ts val="1820"/>
              </a:lnSpc>
              <a:spcAft>
                <a:spcPts val="400"/>
              </a:spcAft>
            </a:pPr>
            <a:r>
              <a:rPr lang="en-US" sz="1500" b="0" u="none" strike="noStrike">
                <a:solidFill>
                  <a:srgbClr val="c8d0dc"/>
                </a:solidFill>
                <a:effectLst/>
                <a:uFillTx/>
                <a:latin typeface="Calibri"/>
              </a:rPr>
              <a:t>This user is in Revolver Industries - All Staff.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ts val="1820"/>
              </a:lnSpc>
              <a:spcAft>
                <a:spcPts val="400"/>
              </a:spcAft>
            </a:pPr>
            <a:r>
              <a:rPr lang="en-US" sz="1500" b="1" u="none" strike="noStrike">
                <a:solidFill>
                  <a:srgbClr val="f0a830"/>
                </a:solidFill>
                <a:effectLst/>
                <a:uFillTx/>
                <a:latin typeface="Calibri"/>
              </a:rPr>
              <a:t>She can see resources t.wilson never could.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21" name=""/>
          <p:cNvPicPr/>
          <p:nvPr/>
        </p:nvPicPr>
        <p:blipFill>
          <a:blip r:embed="rId1"/>
          <a:stretch/>
        </p:blipFill>
        <p:spPr>
          <a:xfrm>
            <a:off x="5770080" y="2514600"/>
            <a:ext cx="6116760" cy="20570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11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Rectangle 1"/>
          <p:cNvSpPr/>
          <p:nvPr/>
        </p:nvSpPr>
        <p:spPr>
          <a:xfrm>
            <a:off x="0" y="0"/>
            <a:ext cx="12191040" cy="54000"/>
          </a:xfrm>
          <a:prstGeom prst="rect">
            <a:avLst/>
          </a:prstGeom>
          <a:solidFill>
            <a:srgbClr val="4ecdc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3" name="Oval 2"/>
          <p:cNvSpPr/>
          <p:nvPr/>
        </p:nvSpPr>
        <p:spPr>
          <a:xfrm>
            <a:off x="731520" y="2286000"/>
            <a:ext cx="502200" cy="502200"/>
          </a:xfrm>
          <a:prstGeom prst="ellipse">
            <a:avLst/>
          </a:prstGeom>
          <a:solidFill>
            <a:srgbClr val="4ecdc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5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TextBox 3"/>
          <p:cNvSpPr/>
          <p:nvPr/>
        </p:nvSpPr>
        <p:spPr>
          <a:xfrm>
            <a:off x="1463040" y="2194560"/>
            <a:ext cx="914328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4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Findings &amp; Defense</a:t>
            </a:r>
            <a:endParaRPr lang="en-US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5" name="TextBox 4"/>
          <p:cNvSpPr/>
          <p:nvPr/>
        </p:nvSpPr>
        <p:spPr>
          <a:xfrm>
            <a:off x="1463040" y="2926080"/>
            <a:ext cx="54856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7a8599"/>
                </a:solidFill>
                <a:effectLst/>
                <a:uFillTx/>
                <a:latin typeface="Calibri"/>
              </a:rPr>
              <a:t>Report  ·  ~5 minutes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11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Rectangle 1"/>
          <p:cNvSpPr/>
          <p:nvPr/>
        </p:nvSpPr>
        <p:spPr>
          <a:xfrm>
            <a:off x="0" y="6473880"/>
            <a:ext cx="12191040" cy="26640"/>
          </a:xfrm>
          <a:prstGeom prst="rect">
            <a:avLst/>
          </a:prstGeom>
          <a:solidFill>
            <a:srgbClr val="4ecdc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7640" bIns="-1764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7" name="TextBox 2"/>
          <p:cNvSpPr/>
          <p:nvPr/>
        </p:nvSpPr>
        <p:spPr>
          <a:xfrm>
            <a:off x="548640" y="6537960"/>
            <a:ext cx="3656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7a8599"/>
                </a:solidFill>
                <a:effectLst/>
                <a:uFillTx/>
                <a:latin typeface="Consolas"/>
              </a:rPr>
              <a:t>MergerMayhem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8" name="TextBox 3"/>
          <p:cNvSpPr/>
          <p:nvPr/>
        </p:nvSpPr>
        <p:spPr>
          <a:xfrm>
            <a:off x="7315200" y="6537960"/>
            <a:ext cx="42969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7a8599"/>
                </a:solidFill>
                <a:effectLst/>
                <a:uFillTx/>
                <a:latin typeface="Calibri"/>
              </a:rPr>
              <a:t>Ocelot Security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9" name="Oval 4"/>
          <p:cNvSpPr/>
          <p:nvPr/>
        </p:nvSpPr>
        <p:spPr>
          <a:xfrm>
            <a:off x="548640" y="365760"/>
            <a:ext cx="502200" cy="502200"/>
          </a:xfrm>
          <a:prstGeom prst="ellipse">
            <a:avLst/>
          </a:prstGeom>
          <a:solidFill>
            <a:srgbClr val="4ecdc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5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TextBox 5"/>
          <p:cNvSpPr/>
          <p:nvPr/>
        </p:nvSpPr>
        <p:spPr>
          <a:xfrm>
            <a:off x="1280160" y="365760"/>
            <a:ext cx="73144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What would you report?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1" name="Rectangle 6"/>
          <p:cNvSpPr/>
          <p:nvPr/>
        </p:nvSpPr>
        <p:spPr>
          <a:xfrm>
            <a:off x="731520" y="1188720"/>
            <a:ext cx="10514880" cy="867960"/>
          </a:xfrm>
          <a:prstGeom prst="rect">
            <a:avLst/>
          </a:prstGeom>
          <a:solidFill>
            <a:srgbClr val="121c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2" name="TextBox 7"/>
          <p:cNvSpPr/>
          <p:nvPr/>
        </p:nvSpPr>
        <p:spPr>
          <a:xfrm>
            <a:off x="914400" y="1280160"/>
            <a:ext cx="63972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4ecdc4"/>
                </a:solidFill>
                <a:effectLst/>
                <a:uFillTx/>
                <a:latin typeface="Consolas"/>
              </a:rPr>
              <a:t>01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3" name="TextBox 8"/>
          <p:cNvSpPr/>
          <p:nvPr/>
        </p:nvSpPr>
        <p:spPr>
          <a:xfrm>
            <a:off x="1554480" y="1261800"/>
            <a:ext cx="27424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Initial Access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4" name="TextBox 9"/>
          <p:cNvSpPr/>
          <p:nvPr/>
        </p:nvSpPr>
        <p:spPr>
          <a:xfrm>
            <a:off x="1554480" y="1627560"/>
            <a:ext cx="91432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7a8599"/>
                </a:solidFill>
                <a:effectLst/>
                <a:uFillTx/>
                <a:latin typeface="Calibri"/>
              </a:rPr>
              <a:t>Weak temporary password on helpdesk account survived merger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5" name="Rectangle 10"/>
          <p:cNvSpPr/>
          <p:nvPr/>
        </p:nvSpPr>
        <p:spPr>
          <a:xfrm>
            <a:off x="731520" y="2286000"/>
            <a:ext cx="10514880" cy="867960"/>
          </a:xfrm>
          <a:prstGeom prst="rect">
            <a:avLst/>
          </a:prstGeom>
          <a:solidFill>
            <a:srgbClr val="121c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6" name="TextBox 11"/>
          <p:cNvSpPr/>
          <p:nvPr/>
        </p:nvSpPr>
        <p:spPr>
          <a:xfrm>
            <a:off x="914400" y="2377440"/>
            <a:ext cx="68544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4ecdc4"/>
                </a:solidFill>
                <a:effectLst/>
                <a:uFillTx/>
                <a:latin typeface="Consolas"/>
              </a:rPr>
              <a:t>02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7" name="TextBox 12"/>
          <p:cNvSpPr/>
          <p:nvPr/>
        </p:nvSpPr>
        <p:spPr>
          <a:xfrm>
            <a:off x="1554480" y="2359080"/>
            <a:ext cx="27424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Data Exposure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8" name="TextBox 13"/>
          <p:cNvSpPr/>
          <p:nvPr/>
        </p:nvSpPr>
        <p:spPr>
          <a:xfrm>
            <a:off x="1554480" y="2724840"/>
            <a:ext cx="91432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7a8599"/>
                </a:solidFill>
                <a:effectLst/>
                <a:uFillTx/>
                <a:latin typeface="Calibri"/>
              </a:rPr>
              <a:t>Cross-BU credentials stored in a shared SharePoint doc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9" name="Rectangle 14"/>
          <p:cNvSpPr/>
          <p:nvPr/>
        </p:nvSpPr>
        <p:spPr>
          <a:xfrm>
            <a:off x="731520" y="3383280"/>
            <a:ext cx="10514880" cy="867960"/>
          </a:xfrm>
          <a:prstGeom prst="rect">
            <a:avLst/>
          </a:prstGeom>
          <a:solidFill>
            <a:srgbClr val="121c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0" name="TextBox 15"/>
          <p:cNvSpPr/>
          <p:nvPr/>
        </p:nvSpPr>
        <p:spPr>
          <a:xfrm>
            <a:off x="914400" y="3474720"/>
            <a:ext cx="63972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4ecdc4"/>
                </a:solidFill>
                <a:effectLst/>
                <a:uFillTx/>
                <a:latin typeface="Consolas"/>
              </a:rPr>
              <a:t>03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1" name="TextBox 16"/>
          <p:cNvSpPr/>
          <p:nvPr/>
        </p:nvSpPr>
        <p:spPr>
          <a:xfrm>
            <a:off x="1554480" y="3456360"/>
            <a:ext cx="27424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Lateral Movement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2" name="TextBox 17"/>
          <p:cNvSpPr/>
          <p:nvPr/>
        </p:nvSpPr>
        <p:spPr>
          <a:xfrm>
            <a:off x="1554480" y="3822120"/>
            <a:ext cx="91432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7a8599"/>
                </a:solidFill>
                <a:effectLst/>
                <a:uFillTx/>
                <a:latin typeface="Calibri"/>
              </a:rPr>
              <a:t>Single compromised cred chain led to Revolver-only data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3" name="Rectangle 18"/>
          <p:cNvSpPr/>
          <p:nvPr/>
        </p:nvSpPr>
        <p:spPr>
          <a:xfrm>
            <a:off x="731520" y="4480560"/>
            <a:ext cx="10514880" cy="867960"/>
          </a:xfrm>
          <a:prstGeom prst="rect">
            <a:avLst/>
          </a:prstGeom>
          <a:solidFill>
            <a:srgbClr val="121c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4" name="TextBox 19"/>
          <p:cNvSpPr/>
          <p:nvPr/>
        </p:nvSpPr>
        <p:spPr>
          <a:xfrm>
            <a:off x="914400" y="4572000"/>
            <a:ext cx="63972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4ecdc4"/>
                </a:solidFill>
                <a:effectLst/>
                <a:uFillTx/>
                <a:latin typeface="Consolas"/>
              </a:rPr>
              <a:t>04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5" name="TextBox 20"/>
          <p:cNvSpPr/>
          <p:nvPr/>
        </p:nvSpPr>
        <p:spPr>
          <a:xfrm>
            <a:off x="1554480" y="4553640"/>
            <a:ext cx="27424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PII at Risk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6" name="TextBox 21"/>
          <p:cNvSpPr/>
          <p:nvPr/>
        </p:nvSpPr>
        <p:spPr>
          <a:xfrm>
            <a:off x="1554480" y="4919400"/>
            <a:ext cx="91432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7a8599"/>
                </a:solidFill>
                <a:effectLst/>
                <a:uFillTx/>
                <a:latin typeface="Calibri"/>
              </a:rPr>
              <a:t>Power Automate flow contained customer SSNs and DB creds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7" name="TextBox 22"/>
          <p:cNvSpPr/>
          <p:nvPr/>
        </p:nvSpPr>
        <p:spPr>
          <a:xfrm>
            <a:off x="731520" y="5486400"/>
            <a:ext cx="1005768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f0a830"/>
                </a:solidFill>
                <a:effectLst/>
                <a:uFillTx/>
                <a:latin typeface="Calibri"/>
              </a:rPr>
              <a:t>This is a critical-severity finding chain. Any one of these alone is a problem.</a:t>
            </a:r>
            <a:br>
              <a:rPr sz="1400"/>
            </a:br>
            <a:r>
              <a:rPr lang="en-US" sz="1400" b="1" u="none" strike="noStrike">
                <a:solidFill>
                  <a:srgbClr val="f0a830"/>
                </a:solidFill>
                <a:effectLst/>
                <a:uFillTx/>
                <a:latin typeface="Calibri"/>
              </a:rPr>
              <a:t>Together, they represent a full business unit compromise.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11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Rectangle 1"/>
          <p:cNvSpPr/>
          <p:nvPr/>
        </p:nvSpPr>
        <p:spPr>
          <a:xfrm>
            <a:off x="0" y="6473880"/>
            <a:ext cx="12191040" cy="26640"/>
          </a:xfrm>
          <a:prstGeom prst="rect">
            <a:avLst/>
          </a:prstGeom>
          <a:solidFill>
            <a:srgbClr val="4ecdc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7640" bIns="-1764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9" name="TextBox 2"/>
          <p:cNvSpPr/>
          <p:nvPr/>
        </p:nvSpPr>
        <p:spPr>
          <a:xfrm>
            <a:off x="548640" y="6537960"/>
            <a:ext cx="3656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7a8599"/>
                </a:solidFill>
                <a:effectLst/>
                <a:uFillTx/>
                <a:latin typeface="Consolas"/>
              </a:rPr>
              <a:t>MergerMayhem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0" name="TextBox 3"/>
          <p:cNvSpPr/>
          <p:nvPr/>
        </p:nvSpPr>
        <p:spPr>
          <a:xfrm>
            <a:off x="7315200" y="6537960"/>
            <a:ext cx="42969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7a8599"/>
                </a:solidFill>
                <a:effectLst/>
                <a:uFillTx/>
                <a:latin typeface="Calibri"/>
              </a:rPr>
              <a:t>Ocelot Security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1" name="TextBox 4"/>
          <p:cNvSpPr/>
          <p:nvPr/>
        </p:nvSpPr>
        <p:spPr>
          <a:xfrm>
            <a:off x="731520" y="457200"/>
            <a:ext cx="1005768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3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How do you stop this?</a:t>
            </a:r>
            <a:endParaRPr lang="en-US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2" name="Rectangle 5"/>
          <p:cNvSpPr/>
          <p:nvPr/>
        </p:nvSpPr>
        <p:spPr>
          <a:xfrm>
            <a:off x="731520" y="1280160"/>
            <a:ext cx="54000" cy="547920"/>
          </a:xfrm>
          <a:prstGeom prst="rect">
            <a:avLst/>
          </a:prstGeom>
          <a:solidFill>
            <a:srgbClr val="4ecdc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3" name="TextBox 6"/>
          <p:cNvSpPr/>
          <p:nvPr/>
        </p:nvSpPr>
        <p:spPr>
          <a:xfrm>
            <a:off x="1005840" y="1261800"/>
            <a:ext cx="100576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Enable MFA / Conditional Access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4" name="TextBox 7"/>
          <p:cNvSpPr/>
          <p:nvPr/>
        </p:nvSpPr>
        <p:spPr>
          <a:xfrm>
            <a:off x="1005840" y="1554480"/>
            <a:ext cx="10057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7a8599"/>
                </a:solidFill>
                <a:effectLst/>
                <a:uFillTx/>
                <a:latin typeface="Calibri"/>
              </a:rPr>
              <a:t>Blocks password spray entirely. This is the single most impactful control.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5" name="Rectangle 8"/>
          <p:cNvSpPr/>
          <p:nvPr/>
        </p:nvSpPr>
        <p:spPr>
          <a:xfrm>
            <a:off x="731520" y="2103120"/>
            <a:ext cx="54000" cy="547920"/>
          </a:xfrm>
          <a:prstGeom prst="rect">
            <a:avLst/>
          </a:prstGeom>
          <a:solidFill>
            <a:srgbClr val="1a73e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6" name="TextBox 9"/>
          <p:cNvSpPr/>
          <p:nvPr/>
        </p:nvSpPr>
        <p:spPr>
          <a:xfrm>
            <a:off x="1005840" y="2084760"/>
            <a:ext cx="100576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Never store credentials in documents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7" name="TextBox 10"/>
          <p:cNvSpPr/>
          <p:nvPr/>
        </p:nvSpPr>
        <p:spPr>
          <a:xfrm>
            <a:off x="1005840" y="2377440"/>
            <a:ext cx="10057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7a8599"/>
                </a:solidFill>
                <a:effectLst/>
                <a:uFillTx/>
                <a:latin typeface="Calibri"/>
              </a:rPr>
              <a:t>Use Azure Key Vault, a PAM solution, or a secrets manager.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8" name="Rectangle 11"/>
          <p:cNvSpPr/>
          <p:nvPr/>
        </p:nvSpPr>
        <p:spPr>
          <a:xfrm>
            <a:off x="731520" y="2926080"/>
            <a:ext cx="54000" cy="547920"/>
          </a:xfrm>
          <a:prstGeom prst="rect">
            <a:avLst/>
          </a:prstGeom>
          <a:solidFill>
            <a:srgbClr val="1a73e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9" name="TextBox 12"/>
          <p:cNvSpPr/>
          <p:nvPr/>
        </p:nvSpPr>
        <p:spPr>
          <a:xfrm>
            <a:off x="1005840" y="2907720"/>
            <a:ext cx="100576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Monitor sign-in logs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0" name="TextBox 13"/>
          <p:cNvSpPr/>
          <p:nvPr/>
        </p:nvSpPr>
        <p:spPr>
          <a:xfrm>
            <a:off x="1005840" y="3200400"/>
            <a:ext cx="10057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7a8599"/>
                </a:solidFill>
                <a:effectLst/>
                <a:uFillTx/>
                <a:latin typeface="Calibri"/>
              </a:rPr>
              <a:t>Entra ID Identity Protection flags spray patterns automatically.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1" name="Rectangle 14"/>
          <p:cNvSpPr/>
          <p:nvPr/>
        </p:nvSpPr>
        <p:spPr>
          <a:xfrm>
            <a:off x="731520" y="3749040"/>
            <a:ext cx="54000" cy="547920"/>
          </a:xfrm>
          <a:prstGeom prst="rect">
            <a:avLst/>
          </a:prstGeom>
          <a:solidFill>
            <a:srgbClr val="f0a8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2" name="TextBox 15"/>
          <p:cNvSpPr/>
          <p:nvPr/>
        </p:nvSpPr>
        <p:spPr>
          <a:xfrm>
            <a:off x="1005840" y="3730680"/>
            <a:ext cx="100576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Audit Power Platform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3" name="TextBox 16"/>
          <p:cNvSpPr/>
          <p:nvPr/>
        </p:nvSpPr>
        <p:spPr>
          <a:xfrm>
            <a:off x="1005840" y="4023360"/>
            <a:ext cx="10057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7a8599"/>
                </a:solidFill>
                <a:effectLst/>
                <a:uFillTx/>
                <a:latin typeface="Calibri"/>
              </a:rPr>
              <a:t>DLP policies catch embedded secrets in flows and apps.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4" name="Rectangle 17"/>
          <p:cNvSpPr/>
          <p:nvPr/>
        </p:nvSpPr>
        <p:spPr>
          <a:xfrm>
            <a:off x="731520" y="4572000"/>
            <a:ext cx="54000" cy="547920"/>
          </a:xfrm>
          <a:prstGeom prst="rect">
            <a:avLst/>
          </a:prstGeom>
          <a:solidFill>
            <a:srgbClr val="f0a8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5" name="TextBox 18"/>
          <p:cNvSpPr/>
          <p:nvPr/>
        </p:nvSpPr>
        <p:spPr>
          <a:xfrm>
            <a:off x="1005840" y="4553640"/>
            <a:ext cx="100576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Least-privilege during mergers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6" name="TextBox 19"/>
          <p:cNvSpPr/>
          <p:nvPr/>
        </p:nvSpPr>
        <p:spPr>
          <a:xfrm>
            <a:off x="1005840" y="4846320"/>
            <a:ext cx="10057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7a8599"/>
                </a:solidFill>
                <a:effectLst/>
                <a:uFillTx/>
                <a:latin typeface="Calibri"/>
              </a:rPr>
              <a:t>Separate service accounts per BU. Scoped group memberships.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7" name="Rectangle 20"/>
          <p:cNvSpPr/>
          <p:nvPr/>
        </p:nvSpPr>
        <p:spPr>
          <a:xfrm>
            <a:off x="731520" y="5394960"/>
            <a:ext cx="54000" cy="547920"/>
          </a:xfrm>
          <a:prstGeom prst="rect">
            <a:avLst/>
          </a:prstGeom>
          <a:solidFill>
            <a:srgbClr val="e8593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8" name="TextBox 21"/>
          <p:cNvSpPr/>
          <p:nvPr/>
        </p:nvSpPr>
        <p:spPr>
          <a:xfrm>
            <a:off x="1005840" y="5376600"/>
            <a:ext cx="100576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Rotate all temporary passwords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9" name="TextBox 22"/>
          <p:cNvSpPr/>
          <p:nvPr/>
        </p:nvSpPr>
        <p:spPr>
          <a:xfrm>
            <a:off x="1005840" y="5669280"/>
            <a:ext cx="10057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7a8599"/>
                </a:solidFill>
                <a:effectLst/>
                <a:uFillTx/>
                <a:latin typeface="Calibri"/>
              </a:rPr>
              <a:t>Enforce password change on first login. Audit compliance.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11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Rectangle 1"/>
          <p:cNvSpPr/>
          <p:nvPr/>
        </p:nvSpPr>
        <p:spPr>
          <a:xfrm>
            <a:off x="0" y="6473880"/>
            <a:ext cx="12191040" cy="26640"/>
          </a:xfrm>
          <a:prstGeom prst="rect">
            <a:avLst/>
          </a:prstGeom>
          <a:solidFill>
            <a:srgbClr val="4ecdc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7640" bIns="-1764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1" name="TextBox 2"/>
          <p:cNvSpPr/>
          <p:nvPr/>
        </p:nvSpPr>
        <p:spPr>
          <a:xfrm>
            <a:off x="548640" y="6537960"/>
            <a:ext cx="36568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7a8599"/>
                </a:solidFill>
                <a:effectLst/>
                <a:uFillTx/>
                <a:latin typeface="Consolas"/>
              </a:rPr>
              <a:t>MergerMayhem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2" name="TextBox 3"/>
          <p:cNvSpPr/>
          <p:nvPr/>
        </p:nvSpPr>
        <p:spPr>
          <a:xfrm>
            <a:off x="7315200" y="6537960"/>
            <a:ext cx="42969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r" defTabSz="457200">
              <a:lnSpc>
                <a:spcPct val="100000"/>
              </a:lnSpc>
            </a:pPr>
            <a:r>
              <a:rPr lang="en-US" sz="900" b="0" u="none" strike="noStrike">
                <a:solidFill>
                  <a:srgbClr val="7a8599"/>
                </a:solidFill>
                <a:effectLst/>
                <a:uFillTx/>
                <a:latin typeface="Calibri"/>
              </a:rPr>
              <a:t>Ocelot Security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3" name="TextBox 4"/>
          <p:cNvSpPr/>
          <p:nvPr/>
        </p:nvSpPr>
        <p:spPr>
          <a:xfrm>
            <a:off x="731520" y="457200"/>
            <a:ext cx="1005768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3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Keep going</a:t>
            </a:r>
            <a:endParaRPr lang="en-US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4" name="TextBox 5"/>
          <p:cNvSpPr/>
          <p:nvPr/>
        </p:nvSpPr>
        <p:spPr>
          <a:xfrm>
            <a:off x="731520" y="1005840"/>
            <a:ext cx="54856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600" b="0" u="none" strike="noStrike">
                <a:solidFill>
                  <a:srgbClr val="7a8599"/>
                </a:solidFill>
                <a:effectLst/>
                <a:uFillTx/>
                <a:latin typeface="Calibri"/>
              </a:rPr>
              <a:t>Free resources and next steps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5" name="Rectangle 6"/>
          <p:cNvSpPr/>
          <p:nvPr/>
        </p:nvSpPr>
        <p:spPr>
          <a:xfrm>
            <a:off x="731520" y="1645920"/>
            <a:ext cx="5028480" cy="730800"/>
          </a:xfrm>
          <a:prstGeom prst="rect">
            <a:avLst/>
          </a:prstGeom>
          <a:solidFill>
            <a:srgbClr val="121c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6" name="TextBox 7"/>
          <p:cNvSpPr/>
          <p:nvPr/>
        </p:nvSpPr>
        <p:spPr>
          <a:xfrm>
            <a:off x="914400" y="1691640"/>
            <a:ext cx="45712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GraphRunner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7" name="TextBox 8"/>
          <p:cNvSpPr/>
          <p:nvPr/>
        </p:nvSpPr>
        <p:spPr>
          <a:xfrm>
            <a:off x="914400" y="2011680"/>
            <a:ext cx="45712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4ecdc4"/>
                </a:solidFill>
                <a:effectLst/>
                <a:uFillTx/>
                <a:latin typeface="Consolas"/>
              </a:rPr>
              <a:t>github.com/dafthack/GraphRunner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8" name="TextBox 9"/>
          <p:cNvSpPr/>
          <p:nvPr/>
        </p:nvSpPr>
        <p:spPr>
          <a:xfrm>
            <a:off x="6035040" y="1783080"/>
            <a:ext cx="45712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7a8599"/>
                </a:solidFill>
                <a:effectLst/>
                <a:uFillTx/>
                <a:latin typeface="Calibri"/>
              </a:rPr>
              <a:t>Post-exploitation via Graph API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9" name="Rectangle 10"/>
          <p:cNvSpPr/>
          <p:nvPr/>
        </p:nvSpPr>
        <p:spPr>
          <a:xfrm>
            <a:off x="731520" y="2560320"/>
            <a:ext cx="5028480" cy="730800"/>
          </a:xfrm>
          <a:prstGeom prst="rect">
            <a:avLst/>
          </a:prstGeom>
          <a:solidFill>
            <a:srgbClr val="121c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0" name="TextBox 11"/>
          <p:cNvSpPr/>
          <p:nvPr/>
        </p:nvSpPr>
        <p:spPr>
          <a:xfrm>
            <a:off x="914400" y="2606040"/>
            <a:ext cx="45712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HackTricks Cloud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1" name="TextBox 12"/>
          <p:cNvSpPr/>
          <p:nvPr/>
        </p:nvSpPr>
        <p:spPr>
          <a:xfrm>
            <a:off x="914400" y="2926080"/>
            <a:ext cx="45712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4ecdc4"/>
                </a:solidFill>
                <a:effectLst/>
                <a:uFillTx/>
                <a:latin typeface="Consolas"/>
              </a:rPr>
              <a:t>cloud.hacktricks.xyz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2" name="TextBox 13"/>
          <p:cNvSpPr/>
          <p:nvPr/>
        </p:nvSpPr>
        <p:spPr>
          <a:xfrm>
            <a:off x="6035040" y="2697480"/>
            <a:ext cx="45712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7a8599"/>
                </a:solidFill>
                <a:effectLst/>
                <a:uFillTx/>
                <a:latin typeface="Calibri"/>
              </a:rPr>
              <a:t>Azure pentesting encyclopedia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3" name="Rectangle 14"/>
          <p:cNvSpPr/>
          <p:nvPr/>
        </p:nvSpPr>
        <p:spPr>
          <a:xfrm>
            <a:off x="731520" y="3474720"/>
            <a:ext cx="5028480" cy="730800"/>
          </a:xfrm>
          <a:prstGeom prst="rect">
            <a:avLst/>
          </a:prstGeom>
          <a:solidFill>
            <a:srgbClr val="121c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4" name="TextBox 15"/>
          <p:cNvSpPr/>
          <p:nvPr/>
        </p:nvSpPr>
        <p:spPr>
          <a:xfrm>
            <a:off x="914400" y="3520440"/>
            <a:ext cx="45712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BadZure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5" name="TextBox 16"/>
          <p:cNvSpPr/>
          <p:nvPr/>
        </p:nvSpPr>
        <p:spPr>
          <a:xfrm>
            <a:off x="914400" y="3840480"/>
            <a:ext cx="45712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4ecdc4"/>
                </a:solidFill>
                <a:effectLst/>
                <a:uFillTx/>
                <a:latin typeface="Consolas"/>
              </a:rPr>
              <a:t>github.com/mvelazc0/BadZure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6" name="TextBox 17"/>
          <p:cNvSpPr/>
          <p:nvPr/>
        </p:nvSpPr>
        <p:spPr>
          <a:xfrm>
            <a:off x="6035040" y="3611880"/>
            <a:ext cx="45712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7a8599"/>
                </a:solidFill>
                <a:effectLst/>
                <a:uFillTx/>
                <a:latin typeface="Calibri"/>
              </a:rPr>
              <a:t>Build your own vulnerable Entra lab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7" name="Rectangle 18"/>
          <p:cNvSpPr/>
          <p:nvPr/>
        </p:nvSpPr>
        <p:spPr>
          <a:xfrm>
            <a:off x="731520" y="4389120"/>
            <a:ext cx="5028480" cy="730800"/>
          </a:xfrm>
          <a:prstGeom prst="rect">
            <a:avLst/>
          </a:prstGeom>
          <a:solidFill>
            <a:srgbClr val="121c3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8" name="TextBox 19"/>
          <p:cNvSpPr/>
          <p:nvPr/>
        </p:nvSpPr>
        <p:spPr>
          <a:xfrm>
            <a:off x="914400" y="4434840"/>
            <a:ext cx="45712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Graph Explorer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9" name="TextBox 20"/>
          <p:cNvSpPr/>
          <p:nvPr/>
        </p:nvSpPr>
        <p:spPr>
          <a:xfrm>
            <a:off x="914400" y="4754880"/>
            <a:ext cx="45712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4ecdc4"/>
                </a:solidFill>
                <a:effectLst/>
                <a:uFillTx/>
                <a:latin typeface="Consolas"/>
              </a:rPr>
              <a:t>developer.microsoft.com/graph/graph-explorer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0" name="TextBox 21"/>
          <p:cNvSpPr/>
          <p:nvPr/>
        </p:nvSpPr>
        <p:spPr>
          <a:xfrm>
            <a:off x="6035040" y="4526280"/>
            <a:ext cx="45712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7a8599"/>
                </a:solidFill>
                <a:effectLst/>
                <a:uFillTx/>
                <a:latin typeface="Calibri"/>
              </a:rPr>
              <a:t>Test Graph API in your browser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11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Rectangle 1"/>
          <p:cNvSpPr/>
          <p:nvPr/>
        </p:nvSpPr>
        <p:spPr>
          <a:xfrm>
            <a:off x="0" y="0"/>
            <a:ext cx="12191040" cy="54000"/>
          </a:xfrm>
          <a:prstGeom prst="rect">
            <a:avLst/>
          </a:prstGeom>
          <a:solidFill>
            <a:srgbClr val="4ecdc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2" name="TextBox 2"/>
          <p:cNvSpPr/>
          <p:nvPr/>
        </p:nvSpPr>
        <p:spPr>
          <a:xfrm>
            <a:off x="731520" y="2011680"/>
            <a:ext cx="1005768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457200">
              <a:lnSpc>
                <a:spcPct val="100000"/>
              </a:lnSpc>
            </a:pPr>
            <a:r>
              <a:rPr lang="en-US" sz="5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Questions?</a:t>
            </a:r>
            <a:endParaRPr lang="en-US" sz="5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3" name="Rectangle 4"/>
          <p:cNvSpPr/>
          <p:nvPr/>
        </p:nvSpPr>
        <p:spPr>
          <a:xfrm>
            <a:off x="0" y="6473880"/>
            <a:ext cx="12191040" cy="54000"/>
          </a:xfrm>
          <a:prstGeom prst="rect">
            <a:avLst/>
          </a:prstGeom>
          <a:solidFill>
            <a:srgbClr val="4ecdc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</TotalTime>
  <Application>LibreOffice/25.8.6.2$Linux_X86_64 LibreOffice_project/580$Build-2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cp:lastPrinted>2026-04-23T19:37:55Z</cp:lastPrinted>
  <dcterms:modified xsi:type="dcterms:W3CDTF">2026-04-23T19:41:00Z</dcterms:modified>
  <cp:revision>3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